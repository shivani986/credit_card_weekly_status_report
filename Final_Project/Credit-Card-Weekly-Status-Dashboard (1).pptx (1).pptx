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erriweather" charset="1" panose="00000500000000000000"/>
      <p:regular r:id="rId19"/>
    </p:embeddedFont>
    <p:embeddedFont>
      <p:font typeface="Merriweather Bold" charset="1" panose="00000800000000000000"/>
      <p:regular r:id="rId21"/>
    </p:embeddedFont>
    <p:embeddedFont>
      <p:font typeface="Consolas" charset="1" panose="020B060902020403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44" y="2468909"/>
            <a:ext cx="9270502" cy="195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2"/>
              </a:lnSpc>
            </a:pPr>
            <a:r>
              <a:rPr lang="en-US" sz="6062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Credit Card Weekly Status Dashboard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9744" y="4793161"/>
            <a:ext cx="9270502" cy="206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An end-to-end Power BI solution for tracking credit card customer behavior, transaction performance, and weekly revenue trends — designed to empower data-driven decision-making.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79744" y="7209530"/>
            <a:ext cx="3527974" cy="579834"/>
            <a:chOff x="0" y="0"/>
            <a:chExt cx="4703966" cy="7731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03953" cy="773049"/>
            </a:xfrm>
            <a:custGeom>
              <a:avLst/>
              <a:gdLst/>
              <a:ahLst/>
              <a:cxnLst/>
              <a:rect r="r" b="b" t="t" l="l"/>
              <a:pathLst>
                <a:path h="773049" w="4703953">
                  <a:moveTo>
                    <a:pt x="0" y="138176"/>
                  </a:moveTo>
                  <a:cubicBezTo>
                    <a:pt x="0" y="61849"/>
                    <a:pt x="61849" y="0"/>
                    <a:pt x="138176" y="0"/>
                  </a:cubicBezTo>
                  <a:lnTo>
                    <a:pt x="4565777" y="0"/>
                  </a:lnTo>
                  <a:cubicBezTo>
                    <a:pt x="4642104" y="0"/>
                    <a:pt x="4703953" y="61849"/>
                    <a:pt x="4703953" y="138176"/>
                  </a:cubicBezTo>
                  <a:lnTo>
                    <a:pt x="4703953" y="634873"/>
                  </a:lnTo>
                  <a:cubicBezTo>
                    <a:pt x="4703953" y="711200"/>
                    <a:pt x="4642104" y="773049"/>
                    <a:pt x="4565777" y="773049"/>
                  </a:cubicBezTo>
                  <a:lnTo>
                    <a:pt x="138176" y="773049"/>
                  </a:lnTo>
                  <a:cubicBezTo>
                    <a:pt x="61849" y="773176"/>
                    <a:pt x="0" y="711200"/>
                    <a:pt x="0" y="634873"/>
                  </a:cubicBezTo>
                  <a:close/>
                </a:path>
              </a:pathLst>
            </a:custGeom>
            <a:solidFill>
              <a:srgbClr val="001D4D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79744" y="7262517"/>
            <a:ext cx="8267000" cy="354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AUTHOR: SHIVANI BHATT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30351" y="689667"/>
            <a:ext cx="16031908" cy="77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Objective &amp; Data Sources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0351" y="2016919"/>
            <a:ext cx="3829498" cy="41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What We Set Out to Build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0351" y="2589457"/>
            <a:ext cx="7702001" cy="192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Design and develop </a:t>
            </a:r>
            <a:r>
              <a:rPr lang="en-US" sz="2000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interactive Power BI dashboards</a:t>
            </a: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to analyze credit card customer behavior and transaction performance — delivering weekly insights, customer segmentation, and revenue analysis to support business decision-making.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65173" y="2016919"/>
            <a:ext cx="3193847" cy="41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Data Sources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50886" y="2658818"/>
            <a:ext cx="3773834" cy="3075680"/>
            <a:chOff x="0" y="0"/>
            <a:chExt cx="5031778" cy="41009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4993640" cy="4062857"/>
            </a:xfrm>
            <a:custGeom>
              <a:avLst/>
              <a:gdLst/>
              <a:ahLst/>
              <a:cxnLst/>
              <a:rect r="r" b="b" t="t" l="l"/>
              <a:pathLst>
                <a:path h="4062857" w="4993640">
                  <a:moveTo>
                    <a:pt x="0" y="182880"/>
                  </a:moveTo>
                  <a:cubicBezTo>
                    <a:pt x="0" y="81915"/>
                    <a:pt x="82042" y="0"/>
                    <a:pt x="183134" y="0"/>
                  </a:cubicBezTo>
                  <a:lnTo>
                    <a:pt x="4810506" y="0"/>
                  </a:lnTo>
                  <a:cubicBezTo>
                    <a:pt x="4911725" y="0"/>
                    <a:pt x="4993640" y="81915"/>
                    <a:pt x="4993640" y="182880"/>
                  </a:cubicBezTo>
                  <a:lnTo>
                    <a:pt x="4993640" y="3879977"/>
                  </a:lnTo>
                  <a:cubicBezTo>
                    <a:pt x="4993640" y="3980942"/>
                    <a:pt x="4911598" y="4062857"/>
                    <a:pt x="4810506" y="4062857"/>
                  </a:cubicBezTo>
                  <a:lnTo>
                    <a:pt x="183134" y="4062857"/>
                  </a:lnTo>
                  <a:cubicBezTo>
                    <a:pt x="81915" y="4062857"/>
                    <a:pt x="0" y="3980942"/>
                    <a:pt x="0" y="3879977"/>
                  </a:cubicBez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31740" cy="4100957"/>
            </a:xfrm>
            <a:custGeom>
              <a:avLst/>
              <a:gdLst/>
              <a:ahLst/>
              <a:cxnLst/>
              <a:rect r="r" b="b" t="t" l="l"/>
              <a:pathLst>
                <a:path h="4100957" w="5031740">
                  <a:moveTo>
                    <a:pt x="0" y="201930"/>
                  </a:moveTo>
                  <a:cubicBezTo>
                    <a:pt x="0" y="90424"/>
                    <a:pt x="90551" y="0"/>
                    <a:pt x="202184" y="0"/>
                  </a:cubicBezTo>
                  <a:lnTo>
                    <a:pt x="4829556" y="0"/>
                  </a:lnTo>
                  <a:lnTo>
                    <a:pt x="4829556" y="19050"/>
                  </a:lnTo>
                  <a:lnTo>
                    <a:pt x="4829556" y="0"/>
                  </a:lnTo>
                  <a:cubicBezTo>
                    <a:pt x="4941189" y="0"/>
                    <a:pt x="5031740" y="90424"/>
                    <a:pt x="5031740" y="201930"/>
                  </a:cubicBezTo>
                  <a:lnTo>
                    <a:pt x="5012690" y="201930"/>
                  </a:lnTo>
                  <a:lnTo>
                    <a:pt x="5031740" y="201930"/>
                  </a:lnTo>
                  <a:lnTo>
                    <a:pt x="5031740" y="3899027"/>
                  </a:lnTo>
                  <a:lnTo>
                    <a:pt x="5012690" y="3899027"/>
                  </a:lnTo>
                  <a:lnTo>
                    <a:pt x="5031740" y="3899027"/>
                  </a:lnTo>
                  <a:cubicBezTo>
                    <a:pt x="5031740" y="4010533"/>
                    <a:pt x="4941189" y="4100957"/>
                    <a:pt x="4829556" y="4100957"/>
                  </a:cubicBezTo>
                  <a:lnTo>
                    <a:pt x="4829556" y="4081907"/>
                  </a:lnTo>
                  <a:lnTo>
                    <a:pt x="4829556" y="4100957"/>
                  </a:lnTo>
                  <a:lnTo>
                    <a:pt x="202184" y="4100957"/>
                  </a:lnTo>
                  <a:lnTo>
                    <a:pt x="202184" y="4081907"/>
                  </a:lnTo>
                  <a:lnTo>
                    <a:pt x="202184" y="4100957"/>
                  </a:lnTo>
                  <a:cubicBezTo>
                    <a:pt x="90551" y="4100957"/>
                    <a:pt x="0" y="4010533"/>
                    <a:pt x="0" y="389902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899027"/>
                  </a:lnTo>
                  <a:lnTo>
                    <a:pt x="19050" y="3899027"/>
                  </a:lnTo>
                  <a:lnTo>
                    <a:pt x="38100" y="3899027"/>
                  </a:lnTo>
                  <a:cubicBezTo>
                    <a:pt x="38100" y="3989451"/>
                    <a:pt x="111506" y="4062857"/>
                    <a:pt x="202184" y="4062857"/>
                  </a:cubicBezTo>
                  <a:lnTo>
                    <a:pt x="4829556" y="4062857"/>
                  </a:lnTo>
                  <a:cubicBezTo>
                    <a:pt x="4920234" y="4062857"/>
                    <a:pt x="4993640" y="3989451"/>
                    <a:pt x="4993640" y="3899027"/>
                  </a:cubicBezTo>
                  <a:lnTo>
                    <a:pt x="4993640" y="201930"/>
                  </a:lnTo>
                  <a:cubicBezTo>
                    <a:pt x="4993640" y="111506"/>
                    <a:pt x="4920234" y="38100"/>
                    <a:pt x="4829556" y="38100"/>
                  </a:cubicBezTo>
                  <a:lnTo>
                    <a:pt x="202184" y="38100"/>
                  </a:lnTo>
                  <a:lnTo>
                    <a:pt x="202184" y="19050"/>
                  </a:lnTo>
                  <a:lnTo>
                    <a:pt x="202184" y="38100"/>
                  </a:lnTo>
                  <a:cubicBezTo>
                    <a:pt x="111506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194A9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36598" y="2673106"/>
            <a:ext cx="114300" cy="3047105"/>
            <a:chOff x="0" y="0"/>
            <a:chExt cx="152400" cy="40628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" cy="4062857"/>
            </a:xfrm>
            <a:custGeom>
              <a:avLst/>
              <a:gdLst/>
              <a:ahLst/>
              <a:cxnLst/>
              <a:rect r="r" b="b" t="t" l="l"/>
              <a:pathLst>
                <a:path h="4062857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3986657"/>
                  </a:lnTo>
                  <a:cubicBezTo>
                    <a:pt x="152400" y="4028694"/>
                    <a:pt x="118237" y="4062857"/>
                    <a:pt x="76200" y="4062857"/>
                  </a:cubicBezTo>
                  <a:cubicBezTo>
                    <a:pt x="34163" y="4062857"/>
                    <a:pt x="0" y="4028694"/>
                    <a:pt x="0" y="3986657"/>
                  </a:cubicBezTo>
                  <a:close/>
                </a:path>
              </a:pathLst>
            </a:custGeom>
            <a:solidFill>
              <a:srgbClr val="609D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834858" y="2938015"/>
            <a:ext cx="3091605" cy="41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CreditCard.csv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34858" y="3510553"/>
            <a:ext cx="3091605" cy="192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Transaction amounts, revenue, interest earned, annual fees, card category, and weekly dates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407628" y="2658818"/>
            <a:ext cx="3773834" cy="3075680"/>
            <a:chOff x="0" y="0"/>
            <a:chExt cx="5031778" cy="41009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9050" y="19050"/>
              <a:ext cx="4993640" cy="4062857"/>
            </a:xfrm>
            <a:custGeom>
              <a:avLst/>
              <a:gdLst/>
              <a:ahLst/>
              <a:cxnLst/>
              <a:rect r="r" b="b" t="t" l="l"/>
              <a:pathLst>
                <a:path h="4062857" w="4993640">
                  <a:moveTo>
                    <a:pt x="0" y="182880"/>
                  </a:moveTo>
                  <a:cubicBezTo>
                    <a:pt x="0" y="81915"/>
                    <a:pt x="82042" y="0"/>
                    <a:pt x="183134" y="0"/>
                  </a:cubicBezTo>
                  <a:lnTo>
                    <a:pt x="4810506" y="0"/>
                  </a:lnTo>
                  <a:cubicBezTo>
                    <a:pt x="4911725" y="0"/>
                    <a:pt x="4993640" y="81915"/>
                    <a:pt x="4993640" y="182880"/>
                  </a:cubicBezTo>
                  <a:lnTo>
                    <a:pt x="4993640" y="3879977"/>
                  </a:lnTo>
                  <a:cubicBezTo>
                    <a:pt x="4993640" y="3980942"/>
                    <a:pt x="4911598" y="4062857"/>
                    <a:pt x="4810506" y="4062857"/>
                  </a:cubicBezTo>
                  <a:lnTo>
                    <a:pt x="183134" y="4062857"/>
                  </a:lnTo>
                  <a:cubicBezTo>
                    <a:pt x="81915" y="4062857"/>
                    <a:pt x="0" y="3980942"/>
                    <a:pt x="0" y="3879977"/>
                  </a:cubicBez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31740" cy="4100957"/>
            </a:xfrm>
            <a:custGeom>
              <a:avLst/>
              <a:gdLst/>
              <a:ahLst/>
              <a:cxnLst/>
              <a:rect r="r" b="b" t="t" l="l"/>
              <a:pathLst>
                <a:path h="4100957" w="5031740">
                  <a:moveTo>
                    <a:pt x="0" y="201930"/>
                  </a:moveTo>
                  <a:cubicBezTo>
                    <a:pt x="0" y="90424"/>
                    <a:pt x="90551" y="0"/>
                    <a:pt x="202184" y="0"/>
                  </a:cubicBezTo>
                  <a:lnTo>
                    <a:pt x="4829556" y="0"/>
                  </a:lnTo>
                  <a:lnTo>
                    <a:pt x="4829556" y="19050"/>
                  </a:lnTo>
                  <a:lnTo>
                    <a:pt x="4829556" y="0"/>
                  </a:lnTo>
                  <a:cubicBezTo>
                    <a:pt x="4941189" y="0"/>
                    <a:pt x="5031740" y="90424"/>
                    <a:pt x="5031740" y="201930"/>
                  </a:cubicBezTo>
                  <a:lnTo>
                    <a:pt x="5012690" y="201930"/>
                  </a:lnTo>
                  <a:lnTo>
                    <a:pt x="5031740" y="201930"/>
                  </a:lnTo>
                  <a:lnTo>
                    <a:pt x="5031740" y="3899027"/>
                  </a:lnTo>
                  <a:lnTo>
                    <a:pt x="5012690" y="3899027"/>
                  </a:lnTo>
                  <a:lnTo>
                    <a:pt x="5031740" y="3899027"/>
                  </a:lnTo>
                  <a:cubicBezTo>
                    <a:pt x="5031740" y="4010533"/>
                    <a:pt x="4941189" y="4100957"/>
                    <a:pt x="4829556" y="4100957"/>
                  </a:cubicBezTo>
                  <a:lnTo>
                    <a:pt x="4829556" y="4081907"/>
                  </a:lnTo>
                  <a:lnTo>
                    <a:pt x="4829556" y="4100957"/>
                  </a:lnTo>
                  <a:lnTo>
                    <a:pt x="202184" y="4100957"/>
                  </a:lnTo>
                  <a:lnTo>
                    <a:pt x="202184" y="4081907"/>
                  </a:lnTo>
                  <a:lnTo>
                    <a:pt x="202184" y="4100957"/>
                  </a:lnTo>
                  <a:cubicBezTo>
                    <a:pt x="90551" y="4100957"/>
                    <a:pt x="0" y="4010533"/>
                    <a:pt x="0" y="389902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899027"/>
                  </a:lnTo>
                  <a:lnTo>
                    <a:pt x="19050" y="3899027"/>
                  </a:lnTo>
                  <a:lnTo>
                    <a:pt x="38100" y="3899027"/>
                  </a:lnTo>
                  <a:cubicBezTo>
                    <a:pt x="38100" y="3989451"/>
                    <a:pt x="111506" y="4062857"/>
                    <a:pt x="202184" y="4062857"/>
                  </a:cubicBezTo>
                  <a:lnTo>
                    <a:pt x="4829556" y="4062857"/>
                  </a:lnTo>
                  <a:cubicBezTo>
                    <a:pt x="4920234" y="4062857"/>
                    <a:pt x="4993640" y="3989451"/>
                    <a:pt x="4993640" y="3899027"/>
                  </a:cubicBezTo>
                  <a:lnTo>
                    <a:pt x="4993640" y="201930"/>
                  </a:lnTo>
                  <a:cubicBezTo>
                    <a:pt x="4993640" y="111506"/>
                    <a:pt x="4920234" y="38100"/>
                    <a:pt x="4829556" y="38100"/>
                  </a:cubicBezTo>
                  <a:lnTo>
                    <a:pt x="202184" y="38100"/>
                  </a:lnTo>
                  <a:lnTo>
                    <a:pt x="202184" y="19050"/>
                  </a:lnTo>
                  <a:lnTo>
                    <a:pt x="202184" y="38100"/>
                  </a:lnTo>
                  <a:cubicBezTo>
                    <a:pt x="111506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194A9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393341" y="2673106"/>
            <a:ext cx="114300" cy="3047105"/>
            <a:chOff x="0" y="0"/>
            <a:chExt cx="152400" cy="40628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400" cy="4062857"/>
            </a:xfrm>
            <a:custGeom>
              <a:avLst/>
              <a:gdLst/>
              <a:ahLst/>
              <a:cxnLst/>
              <a:rect r="r" b="b" t="t" l="l"/>
              <a:pathLst>
                <a:path h="4062857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3986657"/>
                  </a:lnTo>
                  <a:cubicBezTo>
                    <a:pt x="152400" y="4028694"/>
                    <a:pt x="118237" y="4062857"/>
                    <a:pt x="76200" y="4062857"/>
                  </a:cubicBezTo>
                  <a:cubicBezTo>
                    <a:pt x="34163" y="4062857"/>
                    <a:pt x="0" y="4028694"/>
                    <a:pt x="0" y="3986657"/>
                  </a:cubicBezTo>
                  <a:close/>
                </a:path>
              </a:pathLst>
            </a:custGeom>
            <a:solidFill>
              <a:srgbClr val="609D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791609" y="2938015"/>
            <a:ext cx="3091605" cy="41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Customer.csv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91609" y="3510553"/>
            <a:ext cx="3091605" cy="1551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demographics including age, income, job, education, marital status, and state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65173" y="5958183"/>
            <a:ext cx="7702001" cy="1340796"/>
            <a:chOff x="0" y="0"/>
            <a:chExt cx="10269334" cy="17877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69348" cy="1787779"/>
            </a:xfrm>
            <a:custGeom>
              <a:avLst/>
              <a:gdLst/>
              <a:ahLst/>
              <a:cxnLst/>
              <a:rect r="r" b="b" t="t" l="l"/>
              <a:pathLst>
                <a:path h="1787779" w="10269348">
                  <a:moveTo>
                    <a:pt x="0" y="143129"/>
                  </a:moveTo>
                  <a:cubicBezTo>
                    <a:pt x="0" y="64008"/>
                    <a:pt x="64008" y="0"/>
                    <a:pt x="143129" y="0"/>
                  </a:cubicBezTo>
                  <a:lnTo>
                    <a:pt x="10126218" y="0"/>
                  </a:lnTo>
                  <a:cubicBezTo>
                    <a:pt x="10205212" y="0"/>
                    <a:pt x="10269348" y="64008"/>
                    <a:pt x="10269348" y="143129"/>
                  </a:cubicBezTo>
                  <a:lnTo>
                    <a:pt x="10269348" y="1644650"/>
                  </a:lnTo>
                  <a:cubicBezTo>
                    <a:pt x="10269348" y="1723644"/>
                    <a:pt x="10205339" y="1787779"/>
                    <a:pt x="10126218" y="1787779"/>
                  </a:cubicBezTo>
                  <a:lnTo>
                    <a:pt x="143129" y="1787779"/>
                  </a:lnTo>
                  <a:cubicBezTo>
                    <a:pt x="64008" y="1787779"/>
                    <a:pt x="0" y="1723644"/>
                    <a:pt x="0" y="1644650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20558" y="6330105"/>
            <a:ext cx="319383" cy="255384"/>
            <a:chOff x="0" y="0"/>
            <a:chExt cx="425844" cy="340512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425831" cy="340487"/>
            </a:xfrm>
            <a:custGeom>
              <a:avLst/>
              <a:gdLst/>
              <a:ahLst/>
              <a:cxnLst/>
              <a:rect r="r" b="b" t="t" l="l"/>
              <a:pathLst>
                <a:path h="340487" w="425831">
                  <a:moveTo>
                    <a:pt x="0" y="0"/>
                  </a:moveTo>
                  <a:lnTo>
                    <a:pt x="425831" y="0"/>
                  </a:lnTo>
                  <a:lnTo>
                    <a:pt x="425831" y="340487"/>
                  </a:lnTo>
                  <a:lnTo>
                    <a:pt x="0" y="340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45" t="0" r="-351" b="-7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295334" y="6176372"/>
            <a:ext cx="6616456" cy="80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Both datasets are linked via </a:t>
            </a:r>
            <a:r>
              <a:rPr lang="en-US" sz="2000" b="true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Client_Num</a:t>
            </a:r>
            <a:r>
              <a:rPr lang="en-US" sz="20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in a one-to-many relationship.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25588" y="7770171"/>
            <a:ext cx="5210918" cy="1812874"/>
            <a:chOff x="0" y="0"/>
            <a:chExt cx="6947891" cy="24171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" y="6350"/>
              <a:ext cx="6935216" cy="2404491"/>
            </a:xfrm>
            <a:custGeom>
              <a:avLst/>
              <a:gdLst/>
              <a:ahLst/>
              <a:cxnLst/>
              <a:rect r="r" b="b" t="t" l="l"/>
              <a:pathLst>
                <a:path h="2404491" w="6935216">
                  <a:moveTo>
                    <a:pt x="0" y="143129"/>
                  </a:moveTo>
                  <a:cubicBezTo>
                    <a:pt x="0" y="64008"/>
                    <a:pt x="64262" y="0"/>
                    <a:pt x="143637" y="0"/>
                  </a:cubicBezTo>
                  <a:lnTo>
                    <a:pt x="6791579" y="0"/>
                  </a:lnTo>
                  <a:cubicBezTo>
                    <a:pt x="6870827" y="0"/>
                    <a:pt x="6935216" y="64008"/>
                    <a:pt x="6935216" y="143129"/>
                  </a:cubicBezTo>
                  <a:lnTo>
                    <a:pt x="6935216" y="2261362"/>
                  </a:lnTo>
                  <a:cubicBezTo>
                    <a:pt x="6935216" y="2340356"/>
                    <a:pt x="6870954" y="2404491"/>
                    <a:pt x="6791579" y="2404491"/>
                  </a:cubicBezTo>
                  <a:lnTo>
                    <a:pt x="143637" y="2404491"/>
                  </a:lnTo>
                  <a:cubicBezTo>
                    <a:pt x="64262" y="2404491"/>
                    <a:pt x="0" y="2340356"/>
                    <a:pt x="0" y="2261362"/>
                  </a:cubicBezTo>
                  <a:close/>
                </a:path>
              </a:pathLst>
            </a:custGeom>
            <a:solidFill>
              <a:srgbClr val="00318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47916" cy="2417191"/>
            </a:xfrm>
            <a:custGeom>
              <a:avLst/>
              <a:gdLst/>
              <a:ahLst/>
              <a:cxnLst/>
              <a:rect r="r" b="b" t="t" l="l"/>
              <a:pathLst>
                <a:path h="2417191" w="6947916">
                  <a:moveTo>
                    <a:pt x="0" y="149479"/>
                  </a:moveTo>
                  <a:cubicBezTo>
                    <a:pt x="0" y="66929"/>
                    <a:pt x="67183" y="0"/>
                    <a:pt x="149987" y="0"/>
                  </a:cubicBezTo>
                  <a:lnTo>
                    <a:pt x="6797929" y="0"/>
                  </a:lnTo>
                  <a:lnTo>
                    <a:pt x="6797929" y="6350"/>
                  </a:lnTo>
                  <a:lnTo>
                    <a:pt x="6797929" y="0"/>
                  </a:lnTo>
                  <a:cubicBezTo>
                    <a:pt x="6880733" y="0"/>
                    <a:pt x="6947916" y="66929"/>
                    <a:pt x="6947916" y="149479"/>
                  </a:cubicBezTo>
                  <a:lnTo>
                    <a:pt x="6941566" y="149479"/>
                  </a:lnTo>
                  <a:lnTo>
                    <a:pt x="6947916" y="149479"/>
                  </a:lnTo>
                  <a:lnTo>
                    <a:pt x="6947916" y="2267712"/>
                  </a:lnTo>
                  <a:lnTo>
                    <a:pt x="6941566" y="2267712"/>
                  </a:lnTo>
                  <a:lnTo>
                    <a:pt x="6947916" y="2267712"/>
                  </a:lnTo>
                  <a:cubicBezTo>
                    <a:pt x="6947916" y="2350262"/>
                    <a:pt x="6880733" y="2417191"/>
                    <a:pt x="6797929" y="2417191"/>
                  </a:cubicBezTo>
                  <a:lnTo>
                    <a:pt x="6797929" y="2410841"/>
                  </a:lnTo>
                  <a:lnTo>
                    <a:pt x="6797929" y="2417191"/>
                  </a:lnTo>
                  <a:lnTo>
                    <a:pt x="149987" y="2417191"/>
                  </a:lnTo>
                  <a:lnTo>
                    <a:pt x="149987" y="2410841"/>
                  </a:lnTo>
                  <a:lnTo>
                    <a:pt x="149987" y="2417191"/>
                  </a:lnTo>
                  <a:cubicBezTo>
                    <a:pt x="67183" y="2417191"/>
                    <a:pt x="0" y="2350262"/>
                    <a:pt x="0" y="2267712"/>
                  </a:cubicBezTo>
                  <a:lnTo>
                    <a:pt x="0" y="149479"/>
                  </a:lnTo>
                  <a:lnTo>
                    <a:pt x="6350" y="149479"/>
                  </a:lnTo>
                  <a:lnTo>
                    <a:pt x="0" y="149479"/>
                  </a:lnTo>
                  <a:moveTo>
                    <a:pt x="12700" y="149479"/>
                  </a:moveTo>
                  <a:lnTo>
                    <a:pt x="12700" y="2267712"/>
                  </a:lnTo>
                  <a:lnTo>
                    <a:pt x="6350" y="2267712"/>
                  </a:lnTo>
                  <a:lnTo>
                    <a:pt x="12700" y="2267712"/>
                  </a:lnTo>
                  <a:cubicBezTo>
                    <a:pt x="12700" y="2343150"/>
                    <a:pt x="74168" y="2404491"/>
                    <a:pt x="149987" y="2404491"/>
                  </a:cubicBezTo>
                  <a:lnTo>
                    <a:pt x="6797929" y="2404491"/>
                  </a:lnTo>
                  <a:cubicBezTo>
                    <a:pt x="6873748" y="2404491"/>
                    <a:pt x="6935216" y="2343277"/>
                    <a:pt x="6935216" y="2267712"/>
                  </a:cubicBezTo>
                  <a:lnTo>
                    <a:pt x="6935216" y="149479"/>
                  </a:lnTo>
                  <a:cubicBezTo>
                    <a:pt x="6935216" y="73914"/>
                    <a:pt x="6873748" y="12700"/>
                    <a:pt x="6797929" y="12700"/>
                  </a:cubicBezTo>
                  <a:lnTo>
                    <a:pt x="149987" y="12700"/>
                  </a:lnTo>
                  <a:lnTo>
                    <a:pt x="149987" y="6350"/>
                  </a:lnTo>
                  <a:lnTo>
                    <a:pt x="149987" y="12700"/>
                  </a:lnTo>
                  <a:cubicBezTo>
                    <a:pt x="74168" y="12700"/>
                    <a:pt x="12700" y="73914"/>
                    <a:pt x="12700" y="149479"/>
                  </a:cubicBezTo>
                  <a:close/>
                </a:path>
              </a:pathLst>
            </a:custGeom>
            <a:solidFill>
              <a:srgbClr val="194A99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95260" y="8020793"/>
            <a:ext cx="3193847" cy="41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Analysis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95260" y="8508797"/>
            <a:ext cx="4671565" cy="80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Behavioral segmentation &amp; demographics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538465" y="7770171"/>
            <a:ext cx="5210918" cy="1812874"/>
            <a:chOff x="0" y="0"/>
            <a:chExt cx="6947891" cy="241716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6350" y="6350"/>
              <a:ext cx="6935216" cy="2404491"/>
            </a:xfrm>
            <a:custGeom>
              <a:avLst/>
              <a:gdLst/>
              <a:ahLst/>
              <a:cxnLst/>
              <a:rect r="r" b="b" t="t" l="l"/>
              <a:pathLst>
                <a:path h="2404491" w="6935216">
                  <a:moveTo>
                    <a:pt x="0" y="143129"/>
                  </a:moveTo>
                  <a:cubicBezTo>
                    <a:pt x="0" y="64008"/>
                    <a:pt x="64262" y="0"/>
                    <a:pt x="143637" y="0"/>
                  </a:cubicBezTo>
                  <a:lnTo>
                    <a:pt x="6791579" y="0"/>
                  </a:lnTo>
                  <a:cubicBezTo>
                    <a:pt x="6870827" y="0"/>
                    <a:pt x="6935216" y="64008"/>
                    <a:pt x="6935216" y="143129"/>
                  </a:cubicBezTo>
                  <a:lnTo>
                    <a:pt x="6935216" y="2261362"/>
                  </a:lnTo>
                  <a:cubicBezTo>
                    <a:pt x="6935216" y="2340356"/>
                    <a:pt x="6870954" y="2404491"/>
                    <a:pt x="6791579" y="2404491"/>
                  </a:cubicBezTo>
                  <a:lnTo>
                    <a:pt x="143637" y="2404491"/>
                  </a:lnTo>
                  <a:cubicBezTo>
                    <a:pt x="64262" y="2404491"/>
                    <a:pt x="0" y="2340356"/>
                    <a:pt x="0" y="2261362"/>
                  </a:cubicBezTo>
                  <a:close/>
                </a:path>
              </a:pathLst>
            </a:custGeom>
            <a:solidFill>
              <a:srgbClr val="00318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47916" cy="2417191"/>
            </a:xfrm>
            <a:custGeom>
              <a:avLst/>
              <a:gdLst/>
              <a:ahLst/>
              <a:cxnLst/>
              <a:rect r="r" b="b" t="t" l="l"/>
              <a:pathLst>
                <a:path h="2417191" w="6947916">
                  <a:moveTo>
                    <a:pt x="0" y="149479"/>
                  </a:moveTo>
                  <a:cubicBezTo>
                    <a:pt x="0" y="66929"/>
                    <a:pt x="67183" y="0"/>
                    <a:pt x="149987" y="0"/>
                  </a:cubicBezTo>
                  <a:lnTo>
                    <a:pt x="6797929" y="0"/>
                  </a:lnTo>
                  <a:lnTo>
                    <a:pt x="6797929" y="6350"/>
                  </a:lnTo>
                  <a:lnTo>
                    <a:pt x="6797929" y="0"/>
                  </a:lnTo>
                  <a:cubicBezTo>
                    <a:pt x="6880733" y="0"/>
                    <a:pt x="6947916" y="66929"/>
                    <a:pt x="6947916" y="149479"/>
                  </a:cubicBezTo>
                  <a:lnTo>
                    <a:pt x="6941566" y="149479"/>
                  </a:lnTo>
                  <a:lnTo>
                    <a:pt x="6947916" y="149479"/>
                  </a:lnTo>
                  <a:lnTo>
                    <a:pt x="6947916" y="2267712"/>
                  </a:lnTo>
                  <a:lnTo>
                    <a:pt x="6941566" y="2267712"/>
                  </a:lnTo>
                  <a:lnTo>
                    <a:pt x="6947916" y="2267712"/>
                  </a:lnTo>
                  <a:cubicBezTo>
                    <a:pt x="6947916" y="2350262"/>
                    <a:pt x="6880733" y="2417191"/>
                    <a:pt x="6797929" y="2417191"/>
                  </a:cubicBezTo>
                  <a:lnTo>
                    <a:pt x="6797929" y="2410841"/>
                  </a:lnTo>
                  <a:lnTo>
                    <a:pt x="6797929" y="2417191"/>
                  </a:lnTo>
                  <a:lnTo>
                    <a:pt x="149987" y="2417191"/>
                  </a:lnTo>
                  <a:lnTo>
                    <a:pt x="149987" y="2410841"/>
                  </a:lnTo>
                  <a:lnTo>
                    <a:pt x="149987" y="2417191"/>
                  </a:lnTo>
                  <a:cubicBezTo>
                    <a:pt x="67183" y="2417191"/>
                    <a:pt x="0" y="2350262"/>
                    <a:pt x="0" y="2267712"/>
                  </a:cubicBezTo>
                  <a:lnTo>
                    <a:pt x="0" y="149479"/>
                  </a:lnTo>
                  <a:lnTo>
                    <a:pt x="6350" y="149479"/>
                  </a:lnTo>
                  <a:lnTo>
                    <a:pt x="0" y="149479"/>
                  </a:lnTo>
                  <a:moveTo>
                    <a:pt x="12700" y="149479"/>
                  </a:moveTo>
                  <a:lnTo>
                    <a:pt x="12700" y="2267712"/>
                  </a:lnTo>
                  <a:lnTo>
                    <a:pt x="6350" y="2267712"/>
                  </a:lnTo>
                  <a:lnTo>
                    <a:pt x="12700" y="2267712"/>
                  </a:lnTo>
                  <a:cubicBezTo>
                    <a:pt x="12700" y="2343150"/>
                    <a:pt x="74168" y="2404491"/>
                    <a:pt x="149987" y="2404491"/>
                  </a:cubicBezTo>
                  <a:lnTo>
                    <a:pt x="6797929" y="2404491"/>
                  </a:lnTo>
                  <a:cubicBezTo>
                    <a:pt x="6873748" y="2404491"/>
                    <a:pt x="6935216" y="2343277"/>
                    <a:pt x="6935216" y="2267712"/>
                  </a:cubicBezTo>
                  <a:lnTo>
                    <a:pt x="6935216" y="149479"/>
                  </a:lnTo>
                  <a:cubicBezTo>
                    <a:pt x="6935216" y="73914"/>
                    <a:pt x="6873748" y="12700"/>
                    <a:pt x="6797929" y="12700"/>
                  </a:cubicBezTo>
                  <a:lnTo>
                    <a:pt x="149987" y="12700"/>
                  </a:lnTo>
                  <a:lnTo>
                    <a:pt x="149987" y="6350"/>
                  </a:lnTo>
                  <a:lnTo>
                    <a:pt x="149987" y="12700"/>
                  </a:lnTo>
                  <a:cubicBezTo>
                    <a:pt x="74168" y="12700"/>
                    <a:pt x="12700" y="73914"/>
                    <a:pt x="12700" y="149479"/>
                  </a:cubicBezTo>
                  <a:close/>
                </a:path>
              </a:pathLst>
            </a:custGeom>
            <a:solidFill>
              <a:srgbClr val="194A99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6808146" y="8020793"/>
            <a:ext cx="3242520" cy="41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Transaction Analysis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08146" y="8508797"/>
            <a:ext cx="4671565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Revenue trends &amp; card performance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951341" y="7770171"/>
            <a:ext cx="5210918" cy="1812874"/>
            <a:chOff x="0" y="0"/>
            <a:chExt cx="6947891" cy="241716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350" y="6350"/>
              <a:ext cx="6935216" cy="2404491"/>
            </a:xfrm>
            <a:custGeom>
              <a:avLst/>
              <a:gdLst/>
              <a:ahLst/>
              <a:cxnLst/>
              <a:rect r="r" b="b" t="t" l="l"/>
              <a:pathLst>
                <a:path h="2404491" w="6935216">
                  <a:moveTo>
                    <a:pt x="0" y="143129"/>
                  </a:moveTo>
                  <a:cubicBezTo>
                    <a:pt x="0" y="64008"/>
                    <a:pt x="64262" y="0"/>
                    <a:pt x="143637" y="0"/>
                  </a:cubicBezTo>
                  <a:lnTo>
                    <a:pt x="6791579" y="0"/>
                  </a:lnTo>
                  <a:cubicBezTo>
                    <a:pt x="6870827" y="0"/>
                    <a:pt x="6935216" y="64008"/>
                    <a:pt x="6935216" y="143129"/>
                  </a:cubicBezTo>
                  <a:lnTo>
                    <a:pt x="6935216" y="2261362"/>
                  </a:lnTo>
                  <a:cubicBezTo>
                    <a:pt x="6935216" y="2340356"/>
                    <a:pt x="6870954" y="2404491"/>
                    <a:pt x="6791579" y="2404491"/>
                  </a:cubicBezTo>
                  <a:lnTo>
                    <a:pt x="143637" y="2404491"/>
                  </a:lnTo>
                  <a:cubicBezTo>
                    <a:pt x="64262" y="2404491"/>
                    <a:pt x="0" y="2340356"/>
                    <a:pt x="0" y="2261362"/>
                  </a:cubicBezTo>
                  <a:close/>
                </a:path>
              </a:pathLst>
            </a:custGeom>
            <a:solidFill>
              <a:srgbClr val="00318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7916" cy="2417191"/>
            </a:xfrm>
            <a:custGeom>
              <a:avLst/>
              <a:gdLst/>
              <a:ahLst/>
              <a:cxnLst/>
              <a:rect r="r" b="b" t="t" l="l"/>
              <a:pathLst>
                <a:path h="2417191" w="6947916">
                  <a:moveTo>
                    <a:pt x="0" y="149479"/>
                  </a:moveTo>
                  <a:cubicBezTo>
                    <a:pt x="0" y="66929"/>
                    <a:pt x="67183" y="0"/>
                    <a:pt x="149987" y="0"/>
                  </a:cubicBezTo>
                  <a:lnTo>
                    <a:pt x="6797929" y="0"/>
                  </a:lnTo>
                  <a:lnTo>
                    <a:pt x="6797929" y="6350"/>
                  </a:lnTo>
                  <a:lnTo>
                    <a:pt x="6797929" y="0"/>
                  </a:lnTo>
                  <a:cubicBezTo>
                    <a:pt x="6880733" y="0"/>
                    <a:pt x="6947916" y="66929"/>
                    <a:pt x="6947916" y="149479"/>
                  </a:cubicBezTo>
                  <a:lnTo>
                    <a:pt x="6941566" y="149479"/>
                  </a:lnTo>
                  <a:lnTo>
                    <a:pt x="6947916" y="149479"/>
                  </a:lnTo>
                  <a:lnTo>
                    <a:pt x="6947916" y="2267712"/>
                  </a:lnTo>
                  <a:lnTo>
                    <a:pt x="6941566" y="2267712"/>
                  </a:lnTo>
                  <a:lnTo>
                    <a:pt x="6947916" y="2267712"/>
                  </a:lnTo>
                  <a:cubicBezTo>
                    <a:pt x="6947916" y="2350262"/>
                    <a:pt x="6880733" y="2417191"/>
                    <a:pt x="6797929" y="2417191"/>
                  </a:cubicBezTo>
                  <a:lnTo>
                    <a:pt x="6797929" y="2410841"/>
                  </a:lnTo>
                  <a:lnTo>
                    <a:pt x="6797929" y="2417191"/>
                  </a:lnTo>
                  <a:lnTo>
                    <a:pt x="149987" y="2417191"/>
                  </a:lnTo>
                  <a:lnTo>
                    <a:pt x="149987" y="2410841"/>
                  </a:lnTo>
                  <a:lnTo>
                    <a:pt x="149987" y="2417191"/>
                  </a:lnTo>
                  <a:cubicBezTo>
                    <a:pt x="67183" y="2417191"/>
                    <a:pt x="0" y="2350262"/>
                    <a:pt x="0" y="2267712"/>
                  </a:cubicBezTo>
                  <a:lnTo>
                    <a:pt x="0" y="149479"/>
                  </a:lnTo>
                  <a:lnTo>
                    <a:pt x="6350" y="149479"/>
                  </a:lnTo>
                  <a:lnTo>
                    <a:pt x="0" y="149479"/>
                  </a:lnTo>
                  <a:moveTo>
                    <a:pt x="12700" y="149479"/>
                  </a:moveTo>
                  <a:lnTo>
                    <a:pt x="12700" y="2267712"/>
                  </a:lnTo>
                  <a:lnTo>
                    <a:pt x="6350" y="2267712"/>
                  </a:lnTo>
                  <a:lnTo>
                    <a:pt x="12700" y="2267712"/>
                  </a:lnTo>
                  <a:cubicBezTo>
                    <a:pt x="12700" y="2343150"/>
                    <a:pt x="74168" y="2404491"/>
                    <a:pt x="149987" y="2404491"/>
                  </a:cubicBezTo>
                  <a:lnTo>
                    <a:pt x="6797929" y="2404491"/>
                  </a:lnTo>
                  <a:cubicBezTo>
                    <a:pt x="6873748" y="2404491"/>
                    <a:pt x="6935216" y="2343277"/>
                    <a:pt x="6935216" y="2267712"/>
                  </a:cubicBezTo>
                  <a:lnTo>
                    <a:pt x="6935216" y="149479"/>
                  </a:lnTo>
                  <a:cubicBezTo>
                    <a:pt x="6935216" y="73914"/>
                    <a:pt x="6873748" y="12700"/>
                    <a:pt x="6797929" y="12700"/>
                  </a:cubicBezTo>
                  <a:lnTo>
                    <a:pt x="149987" y="12700"/>
                  </a:lnTo>
                  <a:lnTo>
                    <a:pt x="149987" y="6350"/>
                  </a:lnTo>
                  <a:lnTo>
                    <a:pt x="149987" y="12700"/>
                  </a:lnTo>
                  <a:cubicBezTo>
                    <a:pt x="74168" y="12700"/>
                    <a:pt x="12700" y="73914"/>
                    <a:pt x="12700" y="149479"/>
                  </a:cubicBezTo>
                  <a:close/>
                </a:path>
              </a:pathLst>
            </a:custGeom>
            <a:solidFill>
              <a:srgbClr val="194A99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2221023" y="8020793"/>
            <a:ext cx="3193847" cy="41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Extra Insights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21023" y="8508797"/>
            <a:ext cx="4671565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WoW tracking &amp; risk analysis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86245" y="669722"/>
            <a:ext cx="14024982" cy="69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499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Implementation: Data Setup &amp; Modeling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539451" y="1758848"/>
            <a:ext cx="13208946" cy="6996265"/>
            <a:chOff x="0" y="0"/>
            <a:chExt cx="17611928" cy="932835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7611979" cy="9328404"/>
            </a:xfrm>
            <a:custGeom>
              <a:avLst/>
              <a:gdLst/>
              <a:ahLst/>
              <a:cxnLst/>
              <a:rect r="r" b="b" t="t" l="l"/>
              <a:pathLst>
                <a:path h="9328404" w="17611979">
                  <a:moveTo>
                    <a:pt x="0" y="0"/>
                  </a:moveTo>
                  <a:lnTo>
                    <a:pt x="17611979" y="0"/>
                  </a:lnTo>
                  <a:lnTo>
                    <a:pt x="17611979" y="9328404"/>
                  </a:lnTo>
                  <a:lnTo>
                    <a:pt x="0" y="9328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" r="0" b="-2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368298" y="6749539"/>
            <a:ext cx="3265884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</a:pPr>
            <a:r>
              <a:rPr lang="en-US" sz="2562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Import CSVs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36060" y="7292940"/>
            <a:ext cx="3498132" cy="847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Load Customer and CreditCard files into Power BI.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90977" y="2649036"/>
            <a:ext cx="3265884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</a:pPr>
            <a:r>
              <a:rPr lang="en-US" sz="2562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Clean &amp; Validate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58729" y="3192437"/>
            <a:ext cx="3498132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Fix nulls, correct types, and normalize dates.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96861" y="2363267"/>
            <a:ext cx="3265884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Model Relationships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96861" y="2906678"/>
            <a:ext cx="3498132" cy="847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Link Customer to CreditCard via Client_Num key.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30644" y="6749767"/>
            <a:ext cx="3265884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Calculated Fields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30644" y="7293169"/>
            <a:ext cx="3498132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Create columns and DAX measures for analysis.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86245" y="8912123"/>
            <a:ext cx="14515357" cy="68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8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Data preparation ensured null-free, correctly typed columns before modeling. A one-to-many relationship was established between </a:t>
            </a:r>
            <a:r>
              <a:rPr lang="en-US" sz="1812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Customer[Client_Num]</a:t>
            </a:r>
            <a:r>
              <a:rPr lang="en-US" sz="18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and </a:t>
            </a:r>
            <a:r>
              <a:rPr lang="en-US" sz="1812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CreditCard[Client_Num]</a:t>
            </a:r>
            <a:r>
              <a:rPr lang="en-US" sz="18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, forming the foundation for all DAX calculations.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91083" y="539997"/>
            <a:ext cx="4513114" cy="529336"/>
            <a:chOff x="0" y="0"/>
            <a:chExt cx="6017486" cy="7057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7392" cy="705763"/>
            </a:xfrm>
            <a:custGeom>
              <a:avLst/>
              <a:gdLst/>
              <a:ahLst/>
              <a:cxnLst/>
              <a:rect r="r" b="b" t="t" l="l"/>
              <a:pathLst>
                <a:path h="705763" w="6017392">
                  <a:moveTo>
                    <a:pt x="0" y="141190"/>
                  </a:moveTo>
                  <a:cubicBezTo>
                    <a:pt x="0" y="63234"/>
                    <a:pt x="52646" y="0"/>
                    <a:pt x="117551" y="0"/>
                  </a:cubicBezTo>
                  <a:lnTo>
                    <a:pt x="5899841" y="0"/>
                  </a:lnTo>
                  <a:cubicBezTo>
                    <a:pt x="5964746" y="0"/>
                    <a:pt x="6017392" y="63234"/>
                    <a:pt x="6017392" y="141190"/>
                  </a:cubicBezTo>
                  <a:lnTo>
                    <a:pt x="6017392" y="564572"/>
                  </a:lnTo>
                  <a:cubicBezTo>
                    <a:pt x="6017392" y="642529"/>
                    <a:pt x="5964746" y="705763"/>
                    <a:pt x="5899841" y="705763"/>
                  </a:cubicBezTo>
                  <a:lnTo>
                    <a:pt x="117551" y="705763"/>
                  </a:lnTo>
                  <a:cubicBezTo>
                    <a:pt x="52646" y="705763"/>
                    <a:pt x="0" y="642529"/>
                    <a:pt x="0" y="564572"/>
                  </a:cubicBezTo>
                  <a:close/>
                </a:path>
              </a:pathLst>
            </a:custGeom>
            <a:solidFill>
              <a:srgbClr val="001D4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618337" y="757685"/>
            <a:ext cx="3392691" cy="24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DAX FORMULAS — CREDIT CARD TABLE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91083" y="1108472"/>
            <a:ext cx="10423474" cy="68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4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Calculated Columns &amp; Revenue Measures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91083" y="2145059"/>
            <a:ext cx="2651369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Calculated Columns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91083" y="2603154"/>
            <a:ext cx="6394104" cy="31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Total_Revenue</a:t>
            </a:r>
            <a:r>
              <a:rPr lang="en-US" sz="162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aggregates all revenue streams per transaction: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491083" y="3081928"/>
            <a:ext cx="6394104" cy="1568948"/>
            <a:chOff x="0" y="0"/>
            <a:chExt cx="8525472" cy="20919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25383" cy="2091944"/>
            </a:xfrm>
            <a:custGeom>
              <a:avLst/>
              <a:gdLst/>
              <a:ahLst/>
              <a:cxnLst/>
              <a:rect r="r" b="b" t="t" l="l"/>
              <a:pathLst>
                <a:path h="2091944" w="8525383">
                  <a:moveTo>
                    <a:pt x="0" y="118745"/>
                  </a:moveTo>
                  <a:cubicBezTo>
                    <a:pt x="0" y="53213"/>
                    <a:pt x="53213" y="0"/>
                    <a:pt x="118745" y="0"/>
                  </a:cubicBezTo>
                  <a:lnTo>
                    <a:pt x="8406638" y="0"/>
                  </a:lnTo>
                  <a:cubicBezTo>
                    <a:pt x="8472297" y="0"/>
                    <a:pt x="8525383" y="53213"/>
                    <a:pt x="8525383" y="118745"/>
                  </a:cubicBezTo>
                  <a:lnTo>
                    <a:pt x="8525383" y="1973199"/>
                  </a:lnTo>
                  <a:cubicBezTo>
                    <a:pt x="8525383" y="2038858"/>
                    <a:pt x="8472170" y="2091944"/>
                    <a:pt x="8406638" y="2091944"/>
                  </a:cubicBezTo>
                  <a:lnTo>
                    <a:pt x="118745" y="2091944"/>
                  </a:lnTo>
                  <a:cubicBezTo>
                    <a:pt x="53086" y="2091944"/>
                    <a:pt x="0" y="2038731"/>
                    <a:pt x="0" y="1973199"/>
                  </a:cubicBezTo>
                  <a:close/>
                </a:path>
              </a:pathLst>
            </a:custGeom>
            <a:solidFill>
              <a:srgbClr val="16222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80520" y="3081928"/>
            <a:ext cx="6415240" cy="1568948"/>
            <a:chOff x="0" y="0"/>
            <a:chExt cx="8553653" cy="20919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53704" cy="2091944"/>
            </a:xfrm>
            <a:custGeom>
              <a:avLst/>
              <a:gdLst/>
              <a:ahLst/>
              <a:cxnLst/>
              <a:rect r="r" b="b" t="t" l="l"/>
              <a:pathLst>
                <a:path h="2091944" w="8553704">
                  <a:moveTo>
                    <a:pt x="0" y="42418"/>
                  </a:moveTo>
                  <a:cubicBezTo>
                    <a:pt x="0" y="19050"/>
                    <a:pt x="19050" y="0"/>
                    <a:pt x="42418" y="0"/>
                  </a:cubicBezTo>
                  <a:lnTo>
                    <a:pt x="8511286" y="0"/>
                  </a:lnTo>
                  <a:cubicBezTo>
                    <a:pt x="8534654" y="0"/>
                    <a:pt x="8553704" y="19050"/>
                    <a:pt x="8553704" y="42418"/>
                  </a:cubicBezTo>
                  <a:lnTo>
                    <a:pt x="8553704" y="2049526"/>
                  </a:lnTo>
                  <a:cubicBezTo>
                    <a:pt x="8553704" y="2072894"/>
                    <a:pt x="8534654" y="2091944"/>
                    <a:pt x="8511286" y="2091944"/>
                  </a:cubicBezTo>
                  <a:lnTo>
                    <a:pt x="42418" y="2091944"/>
                  </a:lnTo>
                  <a:cubicBezTo>
                    <a:pt x="19050" y="2091944"/>
                    <a:pt x="0" y="2072894"/>
                    <a:pt x="0" y="2049526"/>
                  </a:cubicBezTo>
                  <a:close/>
                </a:path>
              </a:pathLst>
            </a:custGeom>
            <a:solidFill>
              <a:srgbClr val="16222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745581" y="3236862"/>
            <a:ext cx="5885107" cy="120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Total_Revenue =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CreditCard[Annual_Fees]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+ CreditCard[Total_Trans_Amt]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+ CreditCard[Interest_Earned]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91083" y="4786313"/>
            <a:ext cx="6394104" cy="60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Week_Num_2</a:t>
            </a:r>
            <a:r>
              <a:rPr lang="en-US" sz="162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extracts the ISO week number for time intelligence: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491083" y="5551284"/>
            <a:ext cx="6394104" cy="996553"/>
            <a:chOff x="0" y="0"/>
            <a:chExt cx="8525472" cy="13287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25383" cy="1328674"/>
            </a:xfrm>
            <a:custGeom>
              <a:avLst/>
              <a:gdLst/>
              <a:ahLst/>
              <a:cxnLst/>
              <a:rect r="r" b="b" t="t" l="l"/>
              <a:pathLst>
                <a:path h="1328674" w="8525383">
                  <a:moveTo>
                    <a:pt x="0" y="118745"/>
                  </a:moveTo>
                  <a:cubicBezTo>
                    <a:pt x="0" y="53213"/>
                    <a:pt x="53213" y="0"/>
                    <a:pt x="118745" y="0"/>
                  </a:cubicBezTo>
                  <a:lnTo>
                    <a:pt x="8406638" y="0"/>
                  </a:lnTo>
                  <a:cubicBezTo>
                    <a:pt x="8472297" y="0"/>
                    <a:pt x="8525383" y="53213"/>
                    <a:pt x="8525383" y="118745"/>
                  </a:cubicBezTo>
                  <a:lnTo>
                    <a:pt x="8525383" y="1209929"/>
                  </a:lnTo>
                  <a:cubicBezTo>
                    <a:pt x="8525383" y="1275588"/>
                    <a:pt x="8472170" y="1328674"/>
                    <a:pt x="8406638" y="1328674"/>
                  </a:cubicBezTo>
                  <a:lnTo>
                    <a:pt x="118745" y="1328674"/>
                  </a:lnTo>
                  <a:cubicBezTo>
                    <a:pt x="53086" y="1328674"/>
                    <a:pt x="0" y="1275461"/>
                    <a:pt x="0" y="1209929"/>
                  </a:cubicBezTo>
                  <a:close/>
                </a:path>
              </a:pathLst>
            </a:custGeom>
            <a:solidFill>
              <a:srgbClr val="16222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480520" y="5551284"/>
            <a:ext cx="6415240" cy="996553"/>
            <a:chOff x="0" y="0"/>
            <a:chExt cx="8553653" cy="13287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53577" cy="1328674"/>
            </a:xfrm>
            <a:custGeom>
              <a:avLst/>
              <a:gdLst/>
              <a:ahLst/>
              <a:cxnLst/>
              <a:rect r="r" b="b" t="t" l="l"/>
              <a:pathLst>
                <a:path h="1328674" w="8553577">
                  <a:moveTo>
                    <a:pt x="0" y="42418"/>
                  </a:moveTo>
                  <a:cubicBezTo>
                    <a:pt x="0" y="19050"/>
                    <a:pt x="19050" y="0"/>
                    <a:pt x="42418" y="0"/>
                  </a:cubicBezTo>
                  <a:lnTo>
                    <a:pt x="8511159" y="0"/>
                  </a:lnTo>
                  <a:cubicBezTo>
                    <a:pt x="8534653" y="0"/>
                    <a:pt x="8553577" y="19050"/>
                    <a:pt x="8553577" y="42418"/>
                  </a:cubicBezTo>
                  <a:lnTo>
                    <a:pt x="8553577" y="1286256"/>
                  </a:lnTo>
                  <a:cubicBezTo>
                    <a:pt x="8553577" y="1309751"/>
                    <a:pt x="8534527" y="1328674"/>
                    <a:pt x="8511159" y="1328674"/>
                  </a:cubicBezTo>
                  <a:lnTo>
                    <a:pt x="42418" y="1328674"/>
                  </a:lnTo>
                  <a:cubicBezTo>
                    <a:pt x="18923" y="1328674"/>
                    <a:pt x="0" y="1309624"/>
                    <a:pt x="0" y="1286256"/>
                  </a:cubicBezTo>
                  <a:close/>
                </a:path>
              </a:pathLst>
            </a:custGeom>
            <a:solidFill>
              <a:srgbClr val="16222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745581" y="5706218"/>
            <a:ext cx="5885107" cy="62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Week_Num_2 =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WEEKNUM(CreditCard[Week_Start_Date])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12043" y="2145059"/>
            <a:ext cx="2651369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Calculated Measures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12043" y="2603154"/>
            <a:ext cx="6394104" cy="60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Current &amp; Previous Week Revenue</a:t>
            </a:r>
            <a:r>
              <a:rPr lang="en-US" sz="162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using CALCULATE + FILTER: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12043" y="3368126"/>
            <a:ext cx="6394104" cy="3572323"/>
            <a:chOff x="0" y="0"/>
            <a:chExt cx="8525472" cy="47630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25383" cy="4763008"/>
            </a:xfrm>
            <a:custGeom>
              <a:avLst/>
              <a:gdLst/>
              <a:ahLst/>
              <a:cxnLst/>
              <a:rect r="r" b="b" t="t" l="l"/>
              <a:pathLst>
                <a:path h="4763008" w="8525383">
                  <a:moveTo>
                    <a:pt x="0" y="118745"/>
                  </a:moveTo>
                  <a:cubicBezTo>
                    <a:pt x="0" y="53213"/>
                    <a:pt x="53213" y="0"/>
                    <a:pt x="118745" y="0"/>
                  </a:cubicBezTo>
                  <a:lnTo>
                    <a:pt x="8406638" y="0"/>
                  </a:lnTo>
                  <a:cubicBezTo>
                    <a:pt x="8472297" y="0"/>
                    <a:pt x="8525383" y="53213"/>
                    <a:pt x="8525383" y="118745"/>
                  </a:cubicBezTo>
                  <a:lnTo>
                    <a:pt x="8525383" y="4644263"/>
                  </a:lnTo>
                  <a:cubicBezTo>
                    <a:pt x="8525383" y="4709922"/>
                    <a:pt x="8472170" y="4763008"/>
                    <a:pt x="8406638" y="4763008"/>
                  </a:cubicBezTo>
                  <a:lnTo>
                    <a:pt x="118745" y="4763008"/>
                  </a:lnTo>
                  <a:cubicBezTo>
                    <a:pt x="53086" y="4763008"/>
                    <a:pt x="0" y="4709795"/>
                    <a:pt x="0" y="4644263"/>
                  </a:cubicBezTo>
                  <a:close/>
                </a:path>
              </a:pathLst>
            </a:custGeom>
            <a:solidFill>
              <a:srgbClr val="16222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01470" y="3368126"/>
            <a:ext cx="6415240" cy="3572323"/>
            <a:chOff x="0" y="0"/>
            <a:chExt cx="8553653" cy="47630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53577" cy="4763135"/>
            </a:xfrm>
            <a:custGeom>
              <a:avLst/>
              <a:gdLst/>
              <a:ahLst/>
              <a:cxnLst/>
              <a:rect r="r" b="b" t="t" l="l"/>
              <a:pathLst>
                <a:path h="4763135" w="8553577">
                  <a:moveTo>
                    <a:pt x="0" y="42418"/>
                  </a:moveTo>
                  <a:cubicBezTo>
                    <a:pt x="0" y="19050"/>
                    <a:pt x="19050" y="0"/>
                    <a:pt x="42418" y="0"/>
                  </a:cubicBezTo>
                  <a:lnTo>
                    <a:pt x="8511159" y="0"/>
                  </a:lnTo>
                  <a:cubicBezTo>
                    <a:pt x="8534653" y="0"/>
                    <a:pt x="8553577" y="19050"/>
                    <a:pt x="8553577" y="42418"/>
                  </a:cubicBezTo>
                  <a:lnTo>
                    <a:pt x="8553577" y="4720717"/>
                  </a:lnTo>
                  <a:cubicBezTo>
                    <a:pt x="8553577" y="4744212"/>
                    <a:pt x="8534527" y="4763135"/>
                    <a:pt x="8511159" y="4763135"/>
                  </a:cubicBezTo>
                  <a:lnTo>
                    <a:pt x="42418" y="4763135"/>
                  </a:lnTo>
                  <a:cubicBezTo>
                    <a:pt x="18923" y="4763135"/>
                    <a:pt x="0" y="4744085"/>
                    <a:pt x="0" y="4720717"/>
                  </a:cubicBezTo>
                  <a:close/>
                </a:path>
              </a:pathLst>
            </a:custGeom>
            <a:solidFill>
              <a:srgbClr val="162227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666532" y="3523059"/>
            <a:ext cx="5885107" cy="320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Current_Week_Revenue =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CALCULATE(SUM(CreditCard[Total_Revenue]),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FILTER(ALL(CreditCard),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CreditCard[Week_Num_2] =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MAX(CreditCard[Week_Num_2])))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Previous_Week_Revenue =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CALCULATE(SUM(CreditCard[Total_Revenue]),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FILTER(ALL(CreditCard),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CreditCard[Week_Num_2] =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MAX(CreditCard[Week_Num_2])-1))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12043" y="7075884"/>
            <a:ext cx="6394104" cy="31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WOW_Revenue</a:t>
            </a:r>
            <a:r>
              <a:rPr lang="en-US" sz="162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computes week-over-week growth rate: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412043" y="7554668"/>
            <a:ext cx="6394104" cy="1855146"/>
            <a:chOff x="0" y="0"/>
            <a:chExt cx="8525472" cy="24735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25383" cy="2473452"/>
            </a:xfrm>
            <a:custGeom>
              <a:avLst/>
              <a:gdLst/>
              <a:ahLst/>
              <a:cxnLst/>
              <a:rect r="r" b="b" t="t" l="l"/>
              <a:pathLst>
                <a:path h="2473452" w="8525383">
                  <a:moveTo>
                    <a:pt x="0" y="118745"/>
                  </a:moveTo>
                  <a:cubicBezTo>
                    <a:pt x="0" y="53213"/>
                    <a:pt x="53213" y="0"/>
                    <a:pt x="118745" y="0"/>
                  </a:cubicBezTo>
                  <a:lnTo>
                    <a:pt x="8406638" y="0"/>
                  </a:lnTo>
                  <a:cubicBezTo>
                    <a:pt x="8472297" y="0"/>
                    <a:pt x="8525383" y="53213"/>
                    <a:pt x="8525383" y="118745"/>
                  </a:cubicBezTo>
                  <a:lnTo>
                    <a:pt x="8525383" y="2354707"/>
                  </a:lnTo>
                  <a:cubicBezTo>
                    <a:pt x="8525383" y="2420366"/>
                    <a:pt x="8472170" y="2473452"/>
                    <a:pt x="8406638" y="2473452"/>
                  </a:cubicBezTo>
                  <a:lnTo>
                    <a:pt x="118745" y="2473452"/>
                  </a:lnTo>
                  <a:cubicBezTo>
                    <a:pt x="53086" y="2473452"/>
                    <a:pt x="0" y="2420239"/>
                    <a:pt x="0" y="2354707"/>
                  </a:cubicBezTo>
                  <a:close/>
                </a:path>
              </a:pathLst>
            </a:custGeom>
            <a:solidFill>
              <a:srgbClr val="16222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401470" y="7554668"/>
            <a:ext cx="6415240" cy="1855146"/>
            <a:chOff x="0" y="0"/>
            <a:chExt cx="8553653" cy="24735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53704" cy="2473579"/>
            </a:xfrm>
            <a:custGeom>
              <a:avLst/>
              <a:gdLst/>
              <a:ahLst/>
              <a:cxnLst/>
              <a:rect r="r" b="b" t="t" l="l"/>
              <a:pathLst>
                <a:path h="2473579" w="8553704">
                  <a:moveTo>
                    <a:pt x="0" y="42418"/>
                  </a:moveTo>
                  <a:cubicBezTo>
                    <a:pt x="0" y="19050"/>
                    <a:pt x="19050" y="0"/>
                    <a:pt x="42418" y="0"/>
                  </a:cubicBezTo>
                  <a:lnTo>
                    <a:pt x="8511286" y="0"/>
                  </a:lnTo>
                  <a:cubicBezTo>
                    <a:pt x="8534654" y="0"/>
                    <a:pt x="8553704" y="19050"/>
                    <a:pt x="8553704" y="42418"/>
                  </a:cubicBezTo>
                  <a:lnTo>
                    <a:pt x="8553704" y="2431161"/>
                  </a:lnTo>
                  <a:cubicBezTo>
                    <a:pt x="8553704" y="2454529"/>
                    <a:pt x="8534654" y="2473579"/>
                    <a:pt x="8511286" y="2473579"/>
                  </a:cubicBezTo>
                  <a:lnTo>
                    <a:pt x="42418" y="2473579"/>
                  </a:lnTo>
                  <a:cubicBezTo>
                    <a:pt x="19050" y="2473579"/>
                    <a:pt x="0" y="2454529"/>
                    <a:pt x="0" y="2431161"/>
                  </a:cubicBezTo>
                  <a:close/>
                </a:path>
              </a:pathLst>
            </a:custGeom>
            <a:solidFill>
              <a:srgbClr val="162227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666532" y="7709592"/>
            <a:ext cx="5885107" cy="148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WOW_Revenue =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DIVIDE(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([Current_Week_Revenue]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- [Previous_Week_Revenue]),</a:t>
            </a:r>
          </a:p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[Previous_Week_Revenue])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1560" y="695477"/>
            <a:ext cx="4084739" cy="441122"/>
            <a:chOff x="0" y="0"/>
            <a:chExt cx="5446319" cy="5881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46268" cy="588137"/>
            </a:xfrm>
            <a:custGeom>
              <a:avLst/>
              <a:gdLst/>
              <a:ahLst/>
              <a:cxnLst/>
              <a:rect r="r" b="b" t="t" l="l"/>
              <a:pathLst>
                <a:path h="588137" w="5446268">
                  <a:moveTo>
                    <a:pt x="0" y="112268"/>
                  </a:moveTo>
                  <a:cubicBezTo>
                    <a:pt x="0" y="50292"/>
                    <a:pt x="50292" y="0"/>
                    <a:pt x="112268" y="0"/>
                  </a:cubicBezTo>
                  <a:lnTo>
                    <a:pt x="5334000" y="0"/>
                  </a:lnTo>
                  <a:cubicBezTo>
                    <a:pt x="5395976" y="0"/>
                    <a:pt x="5446268" y="50292"/>
                    <a:pt x="5446268" y="112268"/>
                  </a:cubicBezTo>
                  <a:lnTo>
                    <a:pt x="5446268" y="475869"/>
                  </a:lnTo>
                  <a:cubicBezTo>
                    <a:pt x="5446268" y="537845"/>
                    <a:pt x="5395976" y="588137"/>
                    <a:pt x="5334000" y="588137"/>
                  </a:cubicBezTo>
                  <a:lnTo>
                    <a:pt x="112268" y="588137"/>
                  </a:lnTo>
                  <a:cubicBezTo>
                    <a:pt x="50292" y="588137"/>
                    <a:pt x="0" y="537845"/>
                    <a:pt x="0" y="475869"/>
                  </a:cubicBezTo>
                  <a:close/>
                </a:path>
              </a:pathLst>
            </a:custGeom>
            <a:solidFill>
              <a:srgbClr val="001D4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31874" y="742055"/>
            <a:ext cx="493521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6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DAX FORMULAS — CUSTOMER TABLE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560" y="1189434"/>
            <a:ext cx="10171062" cy="81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Segmentation Columns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1560" y="2491235"/>
            <a:ext cx="6344098" cy="41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Age_Group — Demographic Segmentation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1560" y="3057973"/>
            <a:ext cx="7556744" cy="77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Groups customers into 5-year age bands using SWITCH for efficient bucketing: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81560" y="4061222"/>
            <a:ext cx="7556744" cy="4497438"/>
            <a:chOff x="0" y="0"/>
            <a:chExt cx="10075659" cy="59965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75672" cy="5996559"/>
            </a:xfrm>
            <a:custGeom>
              <a:avLst/>
              <a:gdLst/>
              <a:ahLst/>
              <a:cxnLst/>
              <a:rect r="r" b="b" t="t" l="l"/>
              <a:pathLst>
                <a:path h="5996559" w="10075672">
                  <a:moveTo>
                    <a:pt x="0" y="140335"/>
                  </a:moveTo>
                  <a:cubicBezTo>
                    <a:pt x="0" y="62865"/>
                    <a:pt x="62865" y="0"/>
                    <a:pt x="140335" y="0"/>
                  </a:cubicBezTo>
                  <a:lnTo>
                    <a:pt x="9935337" y="0"/>
                  </a:lnTo>
                  <a:cubicBezTo>
                    <a:pt x="10012807" y="0"/>
                    <a:pt x="10075672" y="62865"/>
                    <a:pt x="10075672" y="140335"/>
                  </a:cubicBezTo>
                  <a:lnTo>
                    <a:pt x="10075672" y="5856224"/>
                  </a:lnTo>
                  <a:cubicBezTo>
                    <a:pt x="10075672" y="5933694"/>
                    <a:pt x="10012807" y="5996559"/>
                    <a:pt x="9935337" y="5996559"/>
                  </a:cubicBezTo>
                  <a:lnTo>
                    <a:pt x="140335" y="5996559"/>
                  </a:lnTo>
                  <a:cubicBezTo>
                    <a:pt x="62865" y="5996559"/>
                    <a:pt x="0" y="5933694"/>
                    <a:pt x="0" y="5856224"/>
                  </a:cubicBezTo>
                  <a:close/>
                </a:path>
              </a:pathLst>
            </a:custGeom>
            <a:solidFill>
              <a:srgbClr val="16222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69054" y="4061222"/>
            <a:ext cx="7581748" cy="4497438"/>
            <a:chOff x="0" y="0"/>
            <a:chExt cx="10108997" cy="59965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09073" cy="5996559"/>
            </a:xfrm>
            <a:custGeom>
              <a:avLst/>
              <a:gdLst/>
              <a:ahLst/>
              <a:cxnLst/>
              <a:rect r="r" b="b" t="t" l="l"/>
              <a:pathLst>
                <a:path h="5996559" w="10109073">
                  <a:moveTo>
                    <a:pt x="0" y="50165"/>
                  </a:moveTo>
                  <a:cubicBezTo>
                    <a:pt x="0" y="22479"/>
                    <a:pt x="22479" y="0"/>
                    <a:pt x="50165" y="0"/>
                  </a:cubicBezTo>
                  <a:lnTo>
                    <a:pt x="10058908" y="0"/>
                  </a:lnTo>
                  <a:cubicBezTo>
                    <a:pt x="10086594" y="0"/>
                    <a:pt x="10109073" y="22479"/>
                    <a:pt x="10109073" y="50165"/>
                  </a:cubicBezTo>
                  <a:lnTo>
                    <a:pt x="10109073" y="5946394"/>
                  </a:lnTo>
                  <a:cubicBezTo>
                    <a:pt x="10109073" y="5974080"/>
                    <a:pt x="10086594" y="5996559"/>
                    <a:pt x="10058908" y="5996559"/>
                  </a:cubicBezTo>
                  <a:lnTo>
                    <a:pt x="50165" y="5996559"/>
                  </a:lnTo>
                  <a:cubicBezTo>
                    <a:pt x="22479" y="5996559"/>
                    <a:pt x="0" y="5974080"/>
                    <a:pt x="0" y="5946394"/>
                  </a:cubicBezTo>
                  <a:close/>
                </a:path>
              </a:pathLst>
            </a:custGeom>
            <a:solidFill>
              <a:srgbClr val="16222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82341" y="4216603"/>
            <a:ext cx="6955184" cy="409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Age_Group = SWITCH(TRUE(),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  customer[Customer_Age] &gt;= 20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    &amp;&amp; customer[Customer_Age] &lt;= 30, "20-30",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  customer[Customer_Age] &gt;= 30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    &amp;&amp; customer[Customer_Age] &lt;= 40, "30-40",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  customer[Customer_Age] &gt;= 40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    &amp;&amp; customer[Customer_Age] &lt;= 50, "40-50",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  customer[Customer_Age] &gt;= 50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    &amp;&amp; customer[Customer_Age] &lt;= 60, "50-60",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  customer[Customer_Age] &gt;= 60, "60+"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E2E6E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59220" y="2491235"/>
            <a:ext cx="5277593" cy="41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Income_Group — Revenue Strategy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59220" y="3057973"/>
            <a:ext cx="7556744" cy="77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Classifies customers into Low, Medium, and High income tiers to support targeted revenue strategy: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59220" y="4061222"/>
            <a:ext cx="7556744" cy="3407569"/>
            <a:chOff x="0" y="0"/>
            <a:chExt cx="10075659" cy="45434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75545" cy="4543425"/>
            </a:xfrm>
            <a:custGeom>
              <a:avLst/>
              <a:gdLst/>
              <a:ahLst/>
              <a:cxnLst/>
              <a:rect r="r" b="b" t="t" l="l"/>
              <a:pathLst>
                <a:path h="4543425" w="10075545">
                  <a:moveTo>
                    <a:pt x="0" y="140335"/>
                  </a:moveTo>
                  <a:cubicBezTo>
                    <a:pt x="0" y="62865"/>
                    <a:pt x="62865" y="0"/>
                    <a:pt x="140335" y="0"/>
                  </a:cubicBezTo>
                  <a:lnTo>
                    <a:pt x="9935210" y="0"/>
                  </a:lnTo>
                  <a:cubicBezTo>
                    <a:pt x="10012807" y="0"/>
                    <a:pt x="10075545" y="62865"/>
                    <a:pt x="10075545" y="140335"/>
                  </a:cubicBezTo>
                  <a:lnTo>
                    <a:pt x="10075545" y="4403090"/>
                  </a:lnTo>
                  <a:cubicBezTo>
                    <a:pt x="10075545" y="4480687"/>
                    <a:pt x="10012680" y="4543425"/>
                    <a:pt x="9935210" y="4543425"/>
                  </a:cubicBezTo>
                  <a:lnTo>
                    <a:pt x="140335" y="4543425"/>
                  </a:lnTo>
                  <a:cubicBezTo>
                    <a:pt x="62865" y="4543425"/>
                    <a:pt x="0" y="4480560"/>
                    <a:pt x="0" y="4403090"/>
                  </a:cubicBezTo>
                  <a:close/>
                </a:path>
              </a:pathLst>
            </a:custGeom>
            <a:solidFill>
              <a:srgbClr val="16222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446714" y="4061222"/>
            <a:ext cx="7581748" cy="3407569"/>
            <a:chOff x="0" y="0"/>
            <a:chExt cx="10108997" cy="45434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08947" cy="4543425"/>
            </a:xfrm>
            <a:custGeom>
              <a:avLst/>
              <a:gdLst/>
              <a:ahLst/>
              <a:cxnLst/>
              <a:rect r="r" b="b" t="t" l="l"/>
              <a:pathLst>
                <a:path h="4543425" w="10108947">
                  <a:moveTo>
                    <a:pt x="0" y="50165"/>
                  </a:moveTo>
                  <a:cubicBezTo>
                    <a:pt x="0" y="22479"/>
                    <a:pt x="22479" y="0"/>
                    <a:pt x="50165" y="0"/>
                  </a:cubicBezTo>
                  <a:lnTo>
                    <a:pt x="10058781" y="0"/>
                  </a:lnTo>
                  <a:cubicBezTo>
                    <a:pt x="10086467" y="0"/>
                    <a:pt x="10108947" y="22479"/>
                    <a:pt x="10108947" y="50165"/>
                  </a:cubicBezTo>
                  <a:lnTo>
                    <a:pt x="10108947" y="4493260"/>
                  </a:lnTo>
                  <a:cubicBezTo>
                    <a:pt x="10108947" y="4520946"/>
                    <a:pt x="10086467" y="4543425"/>
                    <a:pt x="10058781" y="4543425"/>
                  </a:cubicBezTo>
                  <a:lnTo>
                    <a:pt x="50165" y="4543425"/>
                  </a:lnTo>
                  <a:cubicBezTo>
                    <a:pt x="22479" y="4543425"/>
                    <a:pt x="0" y="4520946"/>
                    <a:pt x="0" y="4493260"/>
                  </a:cubicBezTo>
                  <a:close/>
                </a:path>
              </a:pathLst>
            </a:custGeom>
            <a:solidFill>
              <a:srgbClr val="16222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760001" y="4216603"/>
            <a:ext cx="6955184" cy="3001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Income_Group = SWITCH(TRUE(),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customer[Income] &lt; 30000,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"Low",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customer[Income] &gt;= 30000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&amp;&amp; customer[Income] &lt; 70000,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"Medium",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"High"</a:t>
            </a:r>
          </a:p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59220" y="7697838"/>
            <a:ext cx="7556744" cy="1664646"/>
            <a:chOff x="0" y="0"/>
            <a:chExt cx="10075659" cy="22195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75672" cy="2219452"/>
            </a:xfrm>
            <a:custGeom>
              <a:avLst/>
              <a:gdLst/>
              <a:ahLst/>
              <a:cxnLst/>
              <a:rect r="r" b="b" t="t" l="l"/>
              <a:pathLst>
                <a:path h="2219452" w="10075672">
                  <a:moveTo>
                    <a:pt x="0" y="140335"/>
                  </a:moveTo>
                  <a:cubicBezTo>
                    <a:pt x="0" y="62865"/>
                    <a:pt x="62865" y="0"/>
                    <a:pt x="140335" y="0"/>
                  </a:cubicBezTo>
                  <a:lnTo>
                    <a:pt x="9935337" y="0"/>
                  </a:lnTo>
                  <a:cubicBezTo>
                    <a:pt x="10012807" y="0"/>
                    <a:pt x="10075672" y="62865"/>
                    <a:pt x="10075672" y="140335"/>
                  </a:cubicBezTo>
                  <a:lnTo>
                    <a:pt x="10075672" y="2079117"/>
                  </a:lnTo>
                  <a:cubicBezTo>
                    <a:pt x="10075672" y="2156587"/>
                    <a:pt x="10012807" y="2219452"/>
                    <a:pt x="9935337" y="2219452"/>
                  </a:cubicBezTo>
                  <a:lnTo>
                    <a:pt x="140335" y="2219452"/>
                  </a:lnTo>
                  <a:cubicBezTo>
                    <a:pt x="62865" y="2219579"/>
                    <a:pt x="0" y="2156714"/>
                    <a:pt x="0" y="2079117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09842" y="8058445"/>
            <a:ext cx="313287" cy="250622"/>
            <a:chOff x="0" y="0"/>
            <a:chExt cx="417716" cy="334162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417703" cy="334137"/>
            </a:xfrm>
            <a:custGeom>
              <a:avLst/>
              <a:gdLst/>
              <a:ahLst/>
              <a:cxnLst/>
              <a:rect r="r" b="b" t="t" l="l"/>
              <a:pathLst>
                <a:path h="334137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334137"/>
                  </a:lnTo>
                  <a:lnTo>
                    <a:pt x="0" y="334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69" t="0" r="-772" b="-7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273751" y="7916466"/>
            <a:ext cx="6491583" cy="113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These two segmentation columns power the age and income slicers across all three dashboards, enabling dynamic customer analysis.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72055" y="478784"/>
            <a:ext cx="8472783" cy="4694482"/>
            <a:chOff x="0" y="0"/>
            <a:chExt cx="11297044" cy="625930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1297031" cy="6259322"/>
            </a:xfrm>
            <a:custGeom>
              <a:avLst/>
              <a:gdLst/>
              <a:ahLst/>
              <a:cxnLst/>
              <a:rect r="r" b="b" t="t" l="l"/>
              <a:pathLst>
                <a:path h="6259322" w="11297031">
                  <a:moveTo>
                    <a:pt x="0" y="0"/>
                  </a:moveTo>
                  <a:lnTo>
                    <a:pt x="11297031" y="0"/>
                  </a:lnTo>
                  <a:lnTo>
                    <a:pt x="11297031" y="6259322"/>
                  </a:lnTo>
                  <a:lnTo>
                    <a:pt x="0" y="625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t="0" r="-1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549548" y="5407076"/>
            <a:ext cx="1219200" cy="286941"/>
            <a:chOff x="0" y="0"/>
            <a:chExt cx="1625600" cy="3825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5600" cy="382524"/>
            </a:xfrm>
            <a:custGeom>
              <a:avLst/>
              <a:gdLst/>
              <a:ahLst/>
              <a:cxnLst/>
              <a:rect r="r" b="b" t="t" l="l"/>
              <a:pathLst>
                <a:path h="382524" w="1625600">
                  <a:moveTo>
                    <a:pt x="0" y="79883"/>
                  </a:moveTo>
                  <a:cubicBezTo>
                    <a:pt x="0" y="35814"/>
                    <a:pt x="35814" y="0"/>
                    <a:pt x="79883" y="0"/>
                  </a:cubicBezTo>
                  <a:lnTo>
                    <a:pt x="1545717" y="0"/>
                  </a:lnTo>
                  <a:cubicBezTo>
                    <a:pt x="1589786" y="0"/>
                    <a:pt x="1625600" y="35814"/>
                    <a:pt x="1625600" y="79883"/>
                  </a:cubicBezTo>
                  <a:lnTo>
                    <a:pt x="1625600" y="302641"/>
                  </a:lnTo>
                  <a:cubicBezTo>
                    <a:pt x="1625600" y="346837"/>
                    <a:pt x="1589786" y="382524"/>
                    <a:pt x="1545717" y="382524"/>
                  </a:cubicBezTo>
                  <a:lnTo>
                    <a:pt x="79883" y="382524"/>
                  </a:lnTo>
                  <a:cubicBezTo>
                    <a:pt x="35814" y="382524"/>
                    <a:pt x="0" y="346837"/>
                    <a:pt x="0" y="302641"/>
                  </a:cubicBezTo>
                  <a:close/>
                </a:path>
              </a:pathLst>
            </a:custGeom>
            <a:solidFill>
              <a:srgbClr val="001D4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656562" y="5450977"/>
            <a:ext cx="1005183" cy="18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06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DASHBOARD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49548" y="5725716"/>
            <a:ext cx="6142139" cy="56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Credit Card Customer Report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49548" y="6622104"/>
            <a:ext cx="5530005" cy="50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462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$57M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99755" y="7291388"/>
            <a:ext cx="2229593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7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Total Revenue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08446" y="6622104"/>
            <a:ext cx="5530005" cy="50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462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$8M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58652" y="7291388"/>
            <a:ext cx="2229593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7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Total Interest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49548" y="7950994"/>
            <a:ext cx="5530005" cy="50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462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$588M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99755" y="8620277"/>
            <a:ext cx="2229593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7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Total Income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08446" y="7950994"/>
            <a:ext cx="5530005" cy="50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462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3.19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58652" y="8620277"/>
            <a:ext cx="2229593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7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CSS Score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49548" y="9005297"/>
            <a:ext cx="11188903" cy="6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7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Key visualizations include: Weekly Revenue Line Chart, Delinquent Account Table, Gender Treemap, Age Group &amp; Income Group breakdowns, Customer Job Table, Marital Status Chart, Top 5 States, and Education Level analysis. </a:t>
            </a:r>
            <a:r>
              <a:rPr lang="en-US" sz="1375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Slicers:</a:t>
            </a:r>
            <a:r>
              <a:rPr lang="en-US" sz="137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Quarter, Week Start Date, Card Category.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72055" y="469554"/>
            <a:ext cx="8472783" cy="4712941"/>
            <a:chOff x="0" y="0"/>
            <a:chExt cx="11297044" cy="628392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1297031" cy="6283960"/>
            </a:xfrm>
            <a:custGeom>
              <a:avLst/>
              <a:gdLst/>
              <a:ahLst/>
              <a:cxnLst/>
              <a:rect r="r" b="b" t="t" l="l"/>
              <a:pathLst>
                <a:path h="6283960" w="11297031">
                  <a:moveTo>
                    <a:pt x="0" y="0"/>
                  </a:moveTo>
                  <a:lnTo>
                    <a:pt x="11297031" y="0"/>
                  </a:lnTo>
                  <a:lnTo>
                    <a:pt x="11297031" y="6283960"/>
                  </a:lnTo>
                  <a:lnTo>
                    <a:pt x="0" y="628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" t="0" r="-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549548" y="5416306"/>
            <a:ext cx="1239441" cy="286941"/>
            <a:chOff x="0" y="0"/>
            <a:chExt cx="1652588" cy="3825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52524" cy="382524"/>
            </a:xfrm>
            <a:custGeom>
              <a:avLst/>
              <a:gdLst/>
              <a:ahLst/>
              <a:cxnLst/>
              <a:rect r="r" b="b" t="t" l="l"/>
              <a:pathLst>
                <a:path h="382524" w="1652524">
                  <a:moveTo>
                    <a:pt x="0" y="79883"/>
                  </a:moveTo>
                  <a:cubicBezTo>
                    <a:pt x="0" y="35814"/>
                    <a:pt x="35814" y="0"/>
                    <a:pt x="79883" y="0"/>
                  </a:cubicBezTo>
                  <a:lnTo>
                    <a:pt x="1572641" y="0"/>
                  </a:lnTo>
                  <a:cubicBezTo>
                    <a:pt x="1616837" y="0"/>
                    <a:pt x="1652524" y="35814"/>
                    <a:pt x="1652524" y="79883"/>
                  </a:cubicBezTo>
                  <a:lnTo>
                    <a:pt x="1652524" y="302641"/>
                  </a:lnTo>
                  <a:cubicBezTo>
                    <a:pt x="1652524" y="346837"/>
                    <a:pt x="1616710" y="382524"/>
                    <a:pt x="1572641" y="382524"/>
                  </a:cubicBezTo>
                  <a:lnTo>
                    <a:pt x="79883" y="382524"/>
                  </a:lnTo>
                  <a:cubicBezTo>
                    <a:pt x="35814" y="382524"/>
                    <a:pt x="0" y="346837"/>
                    <a:pt x="0" y="302641"/>
                  </a:cubicBezTo>
                  <a:close/>
                </a:path>
              </a:pathLst>
            </a:custGeom>
            <a:solidFill>
              <a:srgbClr val="001D4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656562" y="5460206"/>
            <a:ext cx="1025423" cy="18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06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DASHBOARD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49548" y="5734945"/>
            <a:ext cx="6665862" cy="56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Credit Card Transaction Report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49548" y="6631334"/>
            <a:ext cx="5530005" cy="50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462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$57M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99755" y="7300617"/>
            <a:ext cx="2229593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7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Revenue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08446" y="6631334"/>
            <a:ext cx="5530005" cy="50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462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$8M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58652" y="7300617"/>
            <a:ext cx="2229593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7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Interest Earned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49548" y="7960223"/>
            <a:ext cx="5530005" cy="50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462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$46M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98116" y="8629498"/>
            <a:ext cx="2232717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7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Transaction Amount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08446" y="7960223"/>
            <a:ext cx="5530005" cy="50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462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667K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58652" y="8629498"/>
            <a:ext cx="2229593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7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Transaction Volume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49548" y="9014517"/>
            <a:ext cx="11188903" cy="6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7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Visualizations include: Card Category Table (revenue, amount, volume), Revenue by Category Area Chart, Quarterly Revenue &amp; Volume combo bar+line chart, Revenue by Expenditure Type (Fuel, Bills, Grocery), Revenue by Education, and Revenue by Customer Job. </a:t>
            </a:r>
            <a:r>
              <a:rPr lang="en-US" sz="1375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Slicers:</a:t>
            </a:r>
            <a:r>
              <a:rPr lang="en-US" sz="137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Income Group, Quarter.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40854" y="274027"/>
            <a:ext cx="9107249" cy="5346059"/>
            <a:chOff x="0" y="0"/>
            <a:chExt cx="12142999" cy="7128078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2143025" cy="7128129"/>
            </a:xfrm>
            <a:custGeom>
              <a:avLst/>
              <a:gdLst/>
              <a:ahLst/>
              <a:cxnLst/>
              <a:rect r="r" b="b" t="t" l="l"/>
              <a:pathLst>
                <a:path h="7128129" w="12143025">
                  <a:moveTo>
                    <a:pt x="0" y="0"/>
                  </a:moveTo>
                  <a:lnTo>
                    <a:pt x="12143025" y="0"/>
                  </a:lnTo>
                  <a:lnTo>
                    <a:pt x="12143025" y="7128129"/>
                  </a:lnTo>
                  <a:lnTo>
                    <a:pt x="0" y="7128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86" t="0" r="-158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944711" y="6126061"/>
            <a:ext cx="1370257" cy="325784"/>
            <a:chOff x="0" y="0"/>
            <a:chExt cx="1827009" cy="4343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7022" cy="434340"/>
            </a:xfrm>
            <a:custGeom>
              <a:avLst/>
              <a:gdLst/>
              <a:ahLst/>
              <a:cxnLst/>
              <a:rect r="r" b="b" t="t" l="l"/>
              <a:pathLst>
                <a:path h="434340" w="1827022">
                  <a:moveTo>
                    <a:pt x="0" y="88519"/>
                  </a:moveTo>
                  <a:cubicBezTo>
                    <a:pt x="0" y="39624"/>
                    <a:pt x="39624" y="0"/>
                    <a:pt x="88519" y="0"/>
                  </a:cubicBezTo>
                  <a:lnTo>
                    <a:pt x="1738503" y="0"/>
                  </a:lnTo>
                  <a:cubicBezTo>
                    <a:pt x="1787398" y="0"/>
                    <a:pt x="1827022" y="39624"/>
                    <a:pt x="1827022" y="88519"/>
                  </a:cubicBezTo>
                  <a:lnTo>
                    <a:pt x="1827022" y="345821"/>
                  </a:lnTo>
                  <a:cubicBezTo>
                    <a:pt x="1827022" y="394716"/>
                    <a:pt x="1787398" y="434340"/>
                    <a:pt x="1738503" y="434340"/>
                  </a:cubicBezTo>
                  <a:lnTo>
                    <a:pt x="88519" y="434340"/>
                  </a:lnTo>
                  <a:cubicBezTo>
                    <a:pt x="39624" y="434340"/>
                    <a:pt x="0" y="394716"/>
                    <a:pt x="0" y="345821"/>
                  </a:cubicBezTo>
                  <a:close/>
                </a:path>
              </a:pathLst>
            </a:custGeom>
            <a:solidFill>
              <a:srgbClr val="001D4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63183" y="6166247"/>
            <a:ext cx="1133323" cy="226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187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DASHBOARD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44711" y="6483401"/>
            <a:ext cx="5083378" cy="636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75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Extra Insights Report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802436" y="7309990"/>
            <a:ext cx="6242599" cy="2339283"/>
            <a:chOff x="0" y="0"/>
            <a:chExt cx="8323466" cy="31190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23453" cy="3118993"/>
            </a:xfrm>
            <a:custGeom>
              <a:avLst/>
              <a:gdLst/>
              <a:ahLst/>
              <a:cxnLst/>
              <a:rect r="r" b="b" t="t" l="l"/>
              <a:pathLst>
                <a:path h="3118993" w="8323453">
                  <a:moveTo>
                    <a:pt x="0" y="189738"/>
                  </a:moveTo>
                  <a:cubicBezTo>
                    <a:pt x="0" y="84963"/>
                    <a:pt x="84963" y="0"/>
                    <a:pt x="189738" y="0"/>
                  </a:cubicBezTo>
                  <a:lnTo>
                    <a:pt x="8133715" y="0"/>
                  </a:lnTo>
                  <a:cubicBezTo>
                    <a:pt x="8238490" y="0"/>
                    <a:pt x="8323453" y="84963"/>
                    <a:pt x="8323453" y="189738"/>
                  </a:cubicBezTo>
                  <a:lnTo>
                    <a:pt x="8323453" y="2929255"/>
                  </a:lnTo>
                  <a:cubicBezTo>
                    <a:pt x="8323453" y="3034030"/>
                    <a:pt x="8238490" y="3118993"/>
                    <a:pt x="8133715" y="3118993"/>
                  </a:cubicBezTo>
                  <a:lnTo>
                    <a:pt x="189738" y="3118993"/>
                  </a:lnTo>
                  <a:cubicBezTo>
                    <a:pt x="84963" y="3118993"/>
                    <a:pt x="0" y="3034030"/>
                    <a:pt x="0" y="2929255"/>
                  </a:cubicBezTo>
                  <a:close/>
                </a:path>
              </a:pathLst>
            </a:custGeom>
            <a:solidFill>
              <a:srgbClr val="041938">
                <a:alpha val="90196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000080" y="7436491"/>
            <a:ext cx="2470699" cy="30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Purpose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00080" y="7852772"/>
            <a:ext cx="5847312" cy="79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Advanced weekly performance tracking to support forward-looking business decisions and risk management at a granular level.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94479" y="7436491"/>
            <a:ext cx="2470699" cy="30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Key Elements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94479" y="7852772"/>
            <a:ext cx="5958040" cy="175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b="true" sz="1500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Weekly Revenue Table</a:t>
            </a: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— Current Week, Previous Week &amp; WoW Growth</a:t>
            </a:r>
          </a:p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b="true" sz="1500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Delinquency Analysis</a:t>
            </a: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— Tracks risk patterns over time</a:t>
            </a:r>
          </a:p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b="true" sz="1500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Activation Analysis</a:t>
            </a: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— Active vs. inactive customers</a:t>
            </a:r>
          </a:p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b="true" sz="1500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Transaction Trend</a:t>
            </a: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— Line chart for transaction amount</a:t>
            </a:r>
          </a:p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b="true" sz="1500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Credit Limit Analysis</a:t>
            </a: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— Distribution of credit usage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35036" y="735959"/>
            <a:ext cx="7418489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Key Insights &amp;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5036" y="1945186"/>
            <a:ext cx="3095473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Key Business Insights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823590" y="2534622"/>
            <a:ext cx="354216" cy="354216"/>
          </a:xfrm>
          <a:custGeom>
            <a:avLst/>
            <a:gdLst/>
            <a:ahLst/>
            <a:cxnLst/>
            <a:rect r="r" b="b" t="t" l="l"/>
            <a:pathLst>
              <a:path h="354216" w="354216">
                <a:moveTo>
                  <a:pt x="0" y="0"/>
                </a:moveTo>
                <a:lnTo>
                  <a:pt x="354216" y="0"/>
                </a:lnTo>
                <a:lnTo>
                  <a:pt x="354216" y="354215"/>
                </a:lnTo>
                <a:lnTo>
                  <a:pt x="0" y="354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895" t="0" r="-7892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02694" y="2517724"/>
            <a:ext cx="3610566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Revenue Growing Weekly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02694" y="3020016"/>
            <a:ext cx="6353023" cy="39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Consistent upward trend observed across all quarters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823590" y="3779710"/>
            <a:ext cx="354216" cy="354216"/>
          </a:xfrm>
          <a:custGeom>
            <a:avLst/>
            <a:gdLst/>
            <a:ahLst/>
            <a:cxnLst/>
            <a:rect r="r" b="b" t="t" l="l"/>
            <a:pathLst>
              <a:path h="354216" w="354216">
                <a:moveTo>
                  <a:pt x="0" y="0"/>
                </a:moveTo>
                <a:lnTo>
                  <a:pt x="354216" y="0"/>
                </a:lnTo>
                <a:lnTo>
                  <a:pt x="354216" y="354216"/>
                </a:lnTo>
                <a:lnTo>
                  <a:pt x="0" y="354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895" t="0" r="-789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02694" y="3762823"/>
            <a:ext cx="3167358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Low Delinquency Rate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02694" y="4265114"/>
            <a:ext cx="6353023" cy="72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Only ~6% of accounts are delinquent — a healthy portfolio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823590" y="5358336"/>
            <a:ext cx="354216" cy="354216"/>
          </a:xfrm>
          <a:custGeom>
            <a:avLst/>
            <a:gdLst/>
            <a:ahLst/>
            <a:cxnLst/>
            <a:rect r="r" b="b" t="t" l="l"/>
            <a:pathLst>
              <a:path h="354216" w="354216">
                <a:moveTo>
                  <a:pt x="0" y="0"/>
                </a:moveTo>
                <a:lnTo>
                  <a:pt x="354216" y="0"/>
                </a:lnTo>
                <a:lnTo>
                  <a:pt x="354216" y="354216"/>
                </a:lnTo>
                <a:lnTo>
                  <a:pt x="0" y="354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895" t="0" r="-7892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02694" y="5341439"/>
            <a:ext cx="2952750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High Activation Rate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02694" y="5843740"/>
            <a:ext cx="6353023" cy="39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~57% of customers are actively using their cards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823590" y="6603425"/>
            <a:ext cx="354216" cy="354216"/>
          </a:xfrm>
          <a:custGeom>
            <a:avLst/>
            <a:gdLst/>
            <a:ahLst/>
            <a:cxnLst/>
            <a:rect r="r" b="b" t="t" l="l"/>
            <a:pathLst>
              <a:path h="354216" w="354216">
                <a:moveTo>
                  <a:pt x="0" y="0"/>
                </a:moveTo>
                <a:lnTo>
                  <a:pt x="354216" y="0"/>
                </a:lnTo>
                <a:lnTo>
                  <a:pt x="354216" y="354216"/>
                </a:lnTo>
                <a:lnTo>
                  <a:pt x="0" y="354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895" t="0" r="-7892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502694" y="6586537"/>
            <a:ext cx="4138317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Blue &amp; Silver Cards Dominate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02694" y="7088829"/>
            <a:ext cx="6353023" cy="39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These two categories lead in both volume and revenue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41504" y="1945186"/>
            <a:ext cx="2952750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Conclusion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41504" y="2447477"/>
            <a:ext cx="7120680" cy="1057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This project successfully demonstrates </a:t>
            </a:r>
            <a:r>
              <a:rPr lang="en-US" sz="1812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end-to-end Power BI development</a:t>
            </a:r>
            <a:r>
              <a:rPr lang="en-US" sz="18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— from raw CSV ingestion to polished interactive dashboards with advanced DAX measures.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41504" y="3708644"/>
            <a:ext cx="7120680" cy="1521028"/>
            <a:chOff x="0" y="0"/>
            <a:chExt cx="9494241" cy="20280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94265" cy="2028063"/>
            </a:xfrm>
            <a:custGeom>
              <a:avLst/>
              <a:gdLst/>
              <a:ahLst/>
              <a:cxnLst/>
              <a:rect r="r" b="b" t="t" l="l"/>
              <a:pathLst>
                <a:path h="2028063" w="9494265">
                  <a:moveTo>
                    <a:pt x="0" y="132334"/>
                  </a:moveTo>
                  <a:cubicBezTo>
                    <a:pt x="0" y="59182"/>
                    <a:pt x="59182" y="0"/>
                    <a:pt x="132334" y="0"/>
                  </a:cubicBezTo>
                  <a:lnTo>
                    <a:pt x="9361932" y="0"/>
                  </a:lnTo>
                  <a:cubicBezTo>
                    <a:pt x="9434957" y="0"/>
                    <a:pt x="9494265" y="59182"/>
                    <a:pt x="9494265" y="132334"/>
                  </a:cubicBezTo>
                  <a:lnTo>
                    <a:pt x="9494265" y="1895729"/>
                  </a:lnTo>
                  <a:cubicBezTo>
                    <a:pt x="9494265" y="1968754"/>
                    <a:pt x="9435084" y="2028063"/>
                    <a:pt x="9361932" y="2028063"/>
                  </a:cubicBezTo>
                  <a:lnTo>
                    <a:pt x="132334" y="2028063"/>
                  </a:lnTo>
                  <a:cubicBezTo>
                    <a:pt x="59182" y="2028063"/>
                    <a:pt x="0" y="1968754"/>
                    <a:pt x="0" y="1895729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77695" y="4044706"/>
            <a:ext cx="295275" cy="236191"/>
            <a:chOff x="0" y="0"/>
            <a:chExt cx="393700" cy="314922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93700" cy="314960"/>
            </a:xfrm>
            <a:custGeom>
              <a:avLst/>
              <a:gdLst/>
              <a:ahLst/>
              <a:cxnLst/>
              <a:rect r="r" b="b" t="t" l="l"/>
              <a:pathLst>
                <a:path h="314960" w="393700">
                  <a:moveTo>
                    <a:pt x="0" y="0"/>
                  </a:moveTo>
                  <a:lnTo>
                    <a:pt x="393700" y="0"/>
                  </a:lnTo>
                  <a:lnTo>
                    <a:pt x="393700" y="314960"/>
                  </a:lnTo>
                  <a:lnTo>
                    <a:pt x="0" y="31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11" r="0" b="-395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09162" y="3891258"/>
            <a:ext cx="6116841" cy="1057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 solution is fully interactive, filterable by quarter, week, card category, and income group — ready for live stakeholder review.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730273" y="7881642"/>
            <a:ext cx="4828137" cy="1645596"/>
            <a:chOff x="0" y="0"/>
            <a:chExt cx="6437516" cy="21941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6424803" cy="2181479"/>
            </a:xfrm>
            <a:custGeom>
              <a:avLst/>
              <a:gdLst/>
              <a:ahLst/>
              <a:cxnLst/>
              <a:rect r="r" b="b" t="t" l="l"/>
              <a:pathLst>
                <a:path h="2181479" w="6424803">
                  <a:moveTo>
                    <a:pt x="0" y="132334"/>
                  </a:moveTo>
                  <a:cubicBezTo>
                    <a:pt x="0" y="59182"/>
                    <a:pt x="59436" y="0"/>
                    <a:pt x="132842" y="0"/>
                  </a:cubicBezTo>
                  <a:lnTo>
                    <a:pt x="6291961" y="0"/>
                  </a:lnTo>
                  <a:cubicBezTo>
                    <a:pt x="6365240" y="0"/>
                    <a:pt x="6424803" y="59182"/>
                    <a:pt x="6424803" y="132334"/>
                  </a:cubicBezTo>
                  <a:lnTo>
                    <a:pt x="6424803" y="2049145"/>
                  </a:lnTo>
                  <a:cubicBezTo>
                    <a:pt x="6424803" y="2122170"/>
                    <a:pt x="6365367" y="2181479"/>
                    <a:pt x="6291961" y="2181479"/>
                  </a:cubicBezTo>
                  <a:lnTo>
                    <a:pt x="132842" y="2181479"/>
                  </a:lnTo>
                  <a:cubicBezTo>
                    <a:pt x="59436" y="2181479"/>
                    <a:pt x="0" y="2122170"/>
                    <a:pt x="0" y="2049145"/>
                  </a:cubicBezTo>
                  <a:close/>
                </a:path>
              </a:pathLst>
            </a:custGeom>
            <a:solidFill>
              <a:srgbClr val="00318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37503" cy="2194179"/>
            </a:xfrm>
            <a:custGeom>
              <a:avLst/>
              <a:gdLst/>
              <a:ahLst/>
              <a:cxnLst/>
              <a:rect r="r" b="b" t="t" l="l"/>
              <a:pathLst>
                <a:path h="2194179" w="6437503">
                  <a:moveTo>
                    <a:pt x="0" y="138684"/>
                  </a:moveTo>
                  <a:cubicBezTo>
                    <a:pt x="0" y="62103"/>
                    <a:pt x="62357" y="0"/>
                    <a:pt x="139192" y="0"/>
                  </a:cubicBezTo>
                  <a:lnTo>
                    <a:pt x="6298311" y="0"/>
                  </a:lnTo>
                  <a:lnTo>
                    <a:pt x="6298311" y="6350"/>
                  </a:lnTo>
                  <a:lnTo>
                    <a:pt x="6298311" y="0"/>
                  </a:lnTo>
                  <a:cubicBezTo>
                    <a:pt x="6375146" y="0"/>
                    <a:pt x="6437503" y="62103"/>
                    <a:pt x="6437503" y="138684"/>
                  </a:cubicBezTo>
                  <a:lnTo>
                    <a:pt x="6431153" y="138684"/>
                  </a:lnTo>
                  <a:lnTo>
                    <a:pt x="6437503" y="138684"/>
                  </a:lnTo>
                  <a:lnTo>
                    <a:pt x="6437503" y="2055495"/>
                  </a:lnTo>
                  <a:lnTo>
                    <a:pt x="6431153" y="2055495"/>
                  </a:lnTo>
                  <a:lnTo>
                    <a:pt x="6437503" y="2055495"/>
                  </a:lnTo>
                  <a:cubicBezTo>
                    <a:pt x="6437503" y="2132076"/>
                    <a:pt x="6375146" y="2194179"/>
                    <a:pt x="6298311" y="2194179"/>
                  </a:cubicBezTo>
                  <a:lnTo>
                    <a:pt x="6298311" y="2187829"/>
                  </a:lnTo>
                  <a:lnTo>
                    <a:pt x="6298311" y="2194179"/>
                  </a:lnTo>
                  <a:lnTo>
                    <a:pt x="139192" y="2194179"/>
                  </a:lnTo>
                  <a:lnTo>
                    <a:pt x="139192" y="2187829"/>
                  </a:lnTo>
                  <a:lnTo>
                    <a:pt x="139192" y="2194179"/>
                  </a:lnTo>
                  <a:cubicBezTo>
                    <a:pt x="62357" y="2194179"/>
                    <a:pt x="0" y="2132076"/>
                    <a:pt x="0" y="2055495"/>
                  </a:cubicBezTo>
                  <a:lnTo>
                    <a:pt x="0" y="138684"/>
                  </a:lnTo>
                  <a:lnTo>
                    <a:pt x="6350" y="138684"/>
                  </a:lnTo>
                  <a:lnTo>
                    <a:pt x="0" y="138684"/>
                  </a:lnTo>
                  <a:moveTo>
                    <a:pt x="12700" y="138684"/>
                  </a:moveTo>
                  <a:lnTo>
                    <a:pt x="12700" y="2055495"/>
                  </a:lnTo>
                  <a:lnTo>
                    <a:pt x="6350" y="2055495"/>
                  </a:lnTo>
                  <a:lnTo>
                    <a:pt x="12700" y="2055495"/>
                  </a:lnTo>
                  <a:cubicBezTo>
                    <a:pt x="12700" y="2124964"/>
                    <a:pt x="69342" y="2181479"/>
                    <a:pt x="139192" y="2181479"/>
                  </a:cubicBezTo>
                  <a:lnTo>
                    <a:pt x="6298311" y="2181479"/>
                  </a:lnTo>
                  <a:cubicBezTo>
                    <a:pt x="6368161" y="2181479"/>
                    <a:pt x="6424803" y="2125091"/>
                    <a:pt x="6424803" y="2055495"/>
                  </a:cubicBezTo>
                  <a:lnTo>
                    <a:pt x="6424803" y="138684"/>
                  </a:lnTo>
                  <a:cubicBezTo>
                    <a:pt x="6424803" y="69215"/>
                    <a:pt x="6368161" y="12700"/>
                    <a:pt x="6298311" y="12700"/>
                  </a:cubicBezTo>
                  <a:lnTo>
                    <a:pt x="139192" y="12700"/>
                  </a:lnTo>
                  <a:lnTo>
                    <a:pt x="139192" y="6350"/>
                  </a:lnTo>
                  <a:lnTo>
                    <a:pt x="139192" y="12700"/>
                  </a:lnTo>
                  <a:cubicBezTo>
                    <a:pt x="69342" y="12700"/>
                    <a:pt x="12700" y="69088"/>
                    <a:pt x="12700" y="138684"/>
                  </a:cubicBezTo>
                  <a:close/>
                </a:path>
              </a:pathLst>
            </a:custGeom>
            <a:solidFill>
              <a:srgbClr val="194A99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980752" y="8122596"/>
            <a:ext cx="2952750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Advanced DAX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80752" y="8552555"/>
            <a:ext cx="4327179" cy="72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WoW, segmentation &amp; time intelligence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729708" y="7881642"/>
            <a:ext cx="4828280" cy="1645596"/>
            <a:chOff x="0" y="0"/>
            <a:chExt cx="6437706" cy="219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350" y="6350"/>
              <a:ext cx="6425057" cy="2181479"/>
            </a:xfrm>
            <a:custGeom>
              <a:avLst/>
              <a:gdLst/>
              <a:ahLst/>
              <a:cxnLst/>
              <a:rect r="r" b="b" t="t" l="l"/>
              <a:pathLst>
                <a:path h="2181479" w="6425057">
                  <a:moveTo>
                    <a:pt x="0" y="132334"/>
                  </a:moveTo>
                  <a:cubicBezTo>
                    <a:pt x="0" y="59182"/>
                    <a:pt x="59436" y="0"/>
                    <a:pt x="132842" y="0"/>
                  </a:cubicBezTo>
                  <a:lnTo>
                    <a:pt x="6292215" y="0"/>
                  </a:lnTo>
                  <a:cubicBezTo>
                    <a:pt x="6365494" y="0"/>
                    <a:pt x="6425057" y="59182"/>
                    <a:pt x="6425057" y="132334"/>
                  </a:cubicBezTo>
                  <a:lnTo>
                    <a:pt x="6425057" y="2049145"/>
                  </a:lnTo>
                  <a:cubicBezTo>
                    <a:pt x="6425057" y="2122170"/>
                    <a:pt x="6365621" y="2181479"/>
                    <a:pt x="6292215" y="2181479"/>
                  </a:cubicBezTo>
                  <a:lnTo>
                    <a:pt x="132842" y="2181479"/>
                  </a:lnTo>
                  <a:cubicBezTo>
                    <a:pt x="59436" y="2181479"/>
                    <a:pt x="0" y="2122170"/>
                    <a:pt x="0" y="2049145"/>
                  </a:cubicBezTo>
                  <a:close/>
                </a:path>
              </a:pathLst>
            </a:custGeom>
            <a:solidFill>
              <a:srgbClr val="00318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37757" cy="2194179"/>
            </a:xfrm>
            <a:custGeom>
              <a:avLst/>
              <a:gdLst/>
              <a:ahLst/>
              <a:cxnLst/>
              <a:rect r="r" b="b" t="t" l="l"/>
              <a:pathLst>
                <a:path h="2194179" w="6437757">
                  <a:moveTo>
                    <a:pt x="0" y="138684"/>
                  </a:moveTo>
                  <a:cubicBezTo>
                    <a:pt x="0" y="62103"/>
                    <a:pt x="62357" y="0"/>
                    <a:pt x="139192" y="0"/>
                  </a:cubicBezTo>
                  <a:lnTo>
                    <a:pt x="6298565" y="0"/>
                  </a:lnTo>
                  <a:lnTo>
                    <a:pt x="6298565" y="6350"/>
                  </a:lnTo>
                  <a:lnTo>
                    <a:pt x="6298565" y="0"/>
                  </a:lnTo>
                  <a:cubicBezTo>
                    <a:pt x="6375400" y="0"/>
                    <a:pt x="6437757" y="62103"/>
                    <a:pt x="6437757" y="138684"/>
                  </a:cubicBezTo>
                  <a:lnTo>
                    <a:pt x="6431407" y="138684"/>
                  </a:lnTo>
                  <a:lnTo>
                    <a:pt x="6437757" y="138684"/>
                  </a:lnTo>
                  <a:lnTo>
                    <a:pt x="6437757" y="2055495"/>
                  </a:lnTo>
                  <a:lnTo>
                    <a:pt x="6431407" y="2055495"/>
                  </a:lnTo>
                  <a:lnTo>
                    <a:pt x="6437757" y="2055495"/>
                  </a:lnTo>
                  <a:cubicBezTo>
                    <a:pt x="6437757" y="2132076"/>
                    <a:pt x="6375400" y="2194179"/>
                    <a:pt x="6298565" y="2194179"/>
                  </a:cubicBezTo>
                  <a:lnTo>
                    <a:pt x="6298565" y="2187829"/>
                  </a:lnTo>
                  <a:lnTo>
                    <a:pt x="6298565" y="2194179"/>
                  </a:lnTo>
                  <a:lnTo>
                    <a:pt x="139192" y="2194179"/>
                  </a:lnTo>
                  <a:lnTo>
                    <a:pt x="139192" y="2187829"/>
                  </a:lnTo>
                  <a:lnTo>
                    <a:pt x="139192" y="2194179"/>
                  </a:lnTo>
                  <a:cubicBezTo>
                    <a:pt x="62357" y="2194179"/>
                    <a:pt x="0" y="2132076"/>
                    <a:pt x="0" y="2055495"/>
                  </a:cubicBezTo>
                  <a:lnTo>
                    <a:pt x="0" y="138684"/>
                  </a:lnTo>
                  <a:lnTo>
                    <a:pt x="6350" y="138684"/>
                  </a:lnTo>
                  <a:lnTo>
                    <a:pt x="0" y="138684"/>
                  </a:lnTo>
                  <a:moveTo>
                    <a:pt x="12700" y="138684"/>
                  </a:moveTo>
                  <a:lnTo>
                    <a:pt x="12700" y="2055495"/>
                  </a:lnTo>
                  <a:lnTo>
                    <a:pt x="6350" y="2055495"/>
                  </a:lnTo>
                  <a:lnTo>
                    <a:pt x="12700" y="2055495"/>
                  </a:lnTo>
                  <a:cubicBezTo>
                    <a:pt x="12700" y="2124964"/>
                    <a:pt x="69342" y="2181479"/>
                    <a:pt x="139192" y="2181479"/>
                  </a:cubicBezTo>
                  <a:lnTo>
                    <a:pt x="6298565" y="2181479"/>
                  </a:lnTo>
                  <a:cubicBezTo>
                    <a:pt x="6368415" y="2181479"/>
                    <a:pt x="6425057" y="2125091"/>
                    <a:pt x="6425057" y="2055495"/>
                  </a:cubicBezTo>
                  <a:lnTo>
                    <a:pt x="6425057" y="138684"/>
                  </a:lnTo>
                  <a:cubicBezTo>
                    <a:pt x="6425057" y="69215"/>
                    <a:pt x="6368415" y="12700"/>
                    <a:pt x="6298565" y="12700"/>
                  </a:cubicBezTo>
                  <a:lnTo>
                    <a:pt x="139192" y="12700"/>
                  </a:lnTo>
                  <a:lnTo>
                    <a:pt x="139192" y="6350"/>
                  </a:lnTo>
                  <a:lnTo>
                    <a:pt x="139192" y="12700"/>
                  </a:lnTo>
                  <a:cubicBezTo>
                    <a:pt x="69342" y="12700"/>
                    <a:pt x="12700" y="69088"/>
                    <a:pt x="12700" y="138684"/>
                  </a:cubicBezTo>
                  <a:close/>
                </a:path>
              </a:pathLst>
            </a:custGeom>
            <a:solidFill>
              <a:srgbClr val="194A99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6980187" y="8122596"/>
            <a:ext cx="2952750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BI Reporting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80187" y="8552555"/>
            <a:ext cx="4327322" cy="39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Clear, actionable visual storytelling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729295" y="7881642"/>
            <a:ext cx="4828280" cy="1645596"/>
            <a:chOff x="0" y="0"/>
            <a:chExt cx="6437706" cy="21941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6350" y="6350"/>
              <a:ext cx="6425057" cy="2181479"/>
            </a:xfrm>
            <a:custGeom>
              <a:avLst/>
              <a:gdLst/>
              <a:ahLst/>
              <a:cxnLst/>
              <a:rect r="r" b="b" t="t" l="l"/>
              <a:pathLst>
                <a:path h="2181479" w="6425057">
                  <a:moveTo>
                    <a:pt x="0" y="132334"/>
                  </a:moveTo>
                  <a:cubicBezTo>
                    <a:pt x="0" y="59182"/>
                    <a:pt x="59436" y="0"/>
                    <a:pt x="132842" y="0"/>
                  </a:cubicBezTo>
                  <a:lnTo>
                    <a:pt x="6292215" y="0"/>
                  </a:lnTo>
                  <a:cubicBezTo>
                    <a:pt x="6365494" y="0"/>
                    <a:pt x="6425057" y="59182"/>
                    <a:pt x="6425057" y="132334"/>
                  </a:cubicBezTo>
                  <a:lnTo>
                    <a:pt x="6425057" y="2049145"/>
                  </a:lnTo>
                  <a:cubicBezTo>
                    <a:pt x="6425057" y="2122170"/>
                    <a:pt x="6365621" y="2181479"/>
                    <a:pt x="6292215" y="2181479"/>
                  </a:cubicBezTo>
                  <a:lnTo>
                    <a:pt x="132842" y="2181479"/>
                  </a:lnTo>
                  <a:cubicBezTo>
                    <a:pt x="59436" y="2181479"/>
                    <a:pt x="0" y="2122170"/>
                    <a:pt x="0" y="2049145"/>
                  </a:cubicBezTo>
                  <a:close/>
                </a:path>
              </a:pathLst>
            </a:custGeom>
            <a:solidFill>
              <a:srgbClr val="00318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37757" cy="2194179"/>
            </a:xfrm>
            <a:custGeom>
              <a:avLst/>
              <a:gdLst/>
              <a:ahLst/>
              <a:cxnLst/>
              <a:rect r="r" b="b" t="t" l="l"/>
              <a:pathLst>
                <a:path h="2194179" w="6437757">
                  <a:moveTo>
                    <a:pt x="0" y="138684"/>
                  </a:moveTo>
                  <a:cubicBezTo>
                    <a:pt x="0" y="62103"/>
                    <a:pt x="62357" y="0"/>
                    <a:pt x="139192" y="0"/>
                  </a:cubicBezTo>
                  <a:lnTo>
                    <a:pt x="6298565" y="0"/>
                  </a:lnTo>
                  <a:lnTo>
                    <a:pt x="6298565" y="6350"/>
                  </a:lnTo>
                  <a:lnTo>
                    <a:pt x="6298565" y="0"/>
                  </a:lnTo>
                  <a:cubicBezTo>
                    <a:pt x="6375400" y="0"/>
                    <a:pt x="6437757" y="62103"/>
                    <a:pt x="6437757" y="138684"/>
                  </a:cubicBezTo>
                  <a:lnTo>
                    <a:pt x="6431407" y="138684"/>
                  </a:lnTo>
                  <a:lnTo>
                    <a:pt x="6437757" y="138684"/>
                  </a:lnTo>
                  <a:lnTo>
                    <a:pt x="6437757" y="2055495"/>
                  </a:lnTo>
                  <a:lnTo>
                    <a:pt x="6431407" y="2055495"/>
                  </a:lnTo>
                  <a:lnTo>
                    <a:pt x="6437757" y="2055495"/>
                  </a:lnTo>
                  <a:cubicBezTo>
                    <a:pt x="6437757" y="2132076"/>
                    <a:pt x="6375400" y="2194179"/>
                    <a:pt x="6298565" y="2194179"/>
                  </a:cubicBezTo>
                  <a:lnTo>
                    <a:pt x="6298565" y="2187829"/>
                  </a:lnTo>
                  <a:lnTo>
                    <a:pt x="6298565" y="2194179"/>
                  </a:lnTo>
                  <a:lnTo>
                    <a:pt x="139192" y="2194179"/>
                  </a:lnTo>
                  <a:lnTo>
                    <a:pt x="139192" y="2187829"/>
                  </a:lnTo>
                  <a:lnTo>
                    <a:pt x="139192" y="2194179"/>
                  </a:lnTo>
                  <a:cubicBezTo>
                    <a:pt x="62357" y="2194179"/>
                    <a:pt x="0" y="2132076"/>
                    <a:pt x="0" y="2055495"/>
                  </a:cubicBezTo>
                  <a:lnTo>
                    <a:pt x="0" y="138684"/>
                  </a:lnTo>
                  <a:lnTo>
                    <a:pt x="6350" y="138684"/>
                  </a:lnTo>
                  <a:lnTo>
                    <a:pt x="0" y="138684"/>
                  </a:lnTo>
                  <a:moveTo>
                    <a:pt x="12700" y="138684"/>
                  </a:moveTo>
                  <a:lnTo>
                    <a:pt x="12700" y="2055495"/>
                  </a:lnTo>
                  <a:lnTo>
                    <a:pt x="6350" y="2055495"/>
                  </a:lnTo>
                  <a:lnTo>
                    <a:pt x="12700" y="2055495"/>
                  </a:lnTo>
                  <a:cubicBezTo>
                    <a:pt x="12700" y="2124964"/>
                    <a:pt x="69342" y="2181479"/>
                    <a:pt x="139192" y="2181479"/>
                  </a:cubicBezTo>
                  <a:lnTo>
                    <a:pt x="6298565" y="2181479"/>
                  </a:lnTo>
                  <a:cubicBezTo>
                    <a:pt x="6368415" y="2181479"/>
                    <a:pt x="6425057" y="2125091"/>
                    <a:pt x="6425057" y="2055495"/>
                  </a:cubicBezTo>
                  <a:lnTo>
                    <a:pt x="6425057" y="138684"/>
                  </a:lnTo>
                  <a:cubicBezTo>
                    <a:pt x="6425057" y="69215"/>
                    <a:pt x="6368415" y="12700"/>
                    <a:pt x="6298565" y="12700"/>
                  </a:cubicBezTo>
                  <a:lnTo>
                    <a:pt x="139192" y="12700"/>
                  </a:lnTo>
                  <a:lnTo>
                    <a:pt x="139192" y="6350"/>
                  </a:lnTo>
                  <a:lnTo>
                    <a:pt x="139192" y="12700"/>
                  </a:lnTo>
                  <a:cubicBezTo>
                    <a:pt x="69342" y="12700"/>
                    <a:pt x="12700" y="69088"/>
                    <a:pt x="12700" y="138684"/>
                  </a:cubicBezTo>
                  <a:close/>
                </a:path>
              </a:pathLst>
            </a:custGeom>
            <a:solidFill>
              <a:srgbClr val="194A99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979773" y="8122596"/>
            <a:ext cx="2952750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Decision Support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79773" y="8552555"/>
            <a:ext cx="4327322" cy="39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Weekly insights for stakeholders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44" y="2214715"/>
            <a:ext cx="9270502" cy="197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5"/>
              </a:lnSpc>
            </a:pPr>
            <a:r>
              <a:rPr lang="en-US" sz="12125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2105" y="4643885"/>
            <a:ext cx="9145638" cy="49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sz="30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Credit Card Weekly Status Dashboard — Power BI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9744" y="5502773"/>
            <a:ext cx="9270502" cy="157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</a:pPr>
            <a:r>
              <a:rPr lang="en-US" sz="237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Designed &amp; developed by </a:t>
            </a:r>
            <a:r>
              <a:rPr lang="en-US" sz="2375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Shivani Bhatt</a:t>
            </a:r>
            <a:r>
              <a:rPr lang="en-US" sz="237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· Powered by Power BI · Built with advanced DAX · Three interactive dashboards delivered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4982" y="7420870"/>
            <a:ext cx="6056358" cy="1214564"/>
            <a:chOff x="0" y="0"/>
            <a:chExt cx="8075144" cy="16194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75047" cy="1619292"/>
            </a:xfrm>
            <a:custGeom>
              <a:avLst/>
              <a:gdLst/>
              <a:ahLst/>
              <a:cxnLst/>
              <a:rect r="r" b="b" t="t" l="l"/>
              <a:pathLst>
                <a:path h="1619292" w="8075047">
                  <a:moveTo>
                    <a:pt x="0" y="288516"/>
                  </a:moveTo>
                  <a:cubicBezTo>
                    <a:pt x="0" y="129046"/>
                    <a:pt x="82832" y="0"/>
                    <a:pt x="184729" y="0"/>
                  </a:cubicBezTo>
                  <a:lnTo>
                    <a:pt x="7890318" y="0"/>
                  </a:lnTo>
                  <a:lnTo>
                    <a:pt x="7890318" y="12676"/>
                  </a:lnTo>
                  <a:lnTo>
                    <a:pt x="7890318" y="0"/>
                  </a:lnTo>
                  <a:cubicBezTo>
                    <a:pt x="7992216" y="0"/>
                    <a:pt x="8075047" y="129046"/>
                    <a:pt x="8075047" y="288516"/>
                  </a:cubicBezTo>
                  <a:lnTo>
                    <a:pt x="8067037" y="288516"/>
                  </a:lnTo>
                  <a:lnTo>
                    <a:pt x="8075047" y="288516"/>
                  </a:lnTo>
                  <a:lnTo>
                    <a:pt x="8075047" y="1330775"/>
                  </a:lnTo>
                  <a:lnTo>
                    <a:pt x="8067037" y="1330775"/>
                  </a:lnTo>
                  <a:lnTo>
                    <a:pt x="8075047" y="1330775"/>
                  </a:lnTo>
                  <a:cubicBezTo>
                    <a:pt x="8075047" y="1490245"/>
                    <a:pt x="7992216" y="1619292"/>
                    <a:pt x="7890318" y="1619292"/>
                  </a:cubicBezTo>
                  <a:lnTo>
                    <a:pt x="7890318" y="1606615"/>
                  </a:lnTo>
                  <a:lnTo>
                    <a:pt x="7890318" y="1619292"/>
                  </a:lnTo>
                  <a:lnTo>
                    <a:pt x="184729" y="1619292"/>
                  </a:lnTo>
                  <a:lnTo>
                    <a:pt x="184729" y="1606615"/>
                  </a:lnTo>
                  <a:lnTo>
                    <a:pt x="184729" y="1619292"/>
                  </a:lnTo>
                  <a:cubicBezTo>
                    <a:pt x="82832" y="1619482"/>
                    <a:pt x="0" y="1490245"/>
                    <a:pt x="0" y="1330775"/>
                  </a:cubicBezTo>
                  <a:lnTo>
                    <a:pt x="0" y="288516"/>
                  </a:lnTo>
                  <a:lnTo>
                    <a:pt x="8011" y="288516"/>
                  </a:lnTo>
                  <a:lnTo>
                    <a:pt x="0" y="288516"/>
                  </a:lnTo>
                  <a:moveTo>
                    <a:pt x="16022" y="288516"/>
                  </a:moveTo>
                  <a:lnTo>
                    <a:pt x="16022" y="1330775"/>
                  </a:lnTo>
                  <a:lnTo>
                    <a:pt x="8011" y="1330775"/>
                  </a:lnTo>
                  <a:lnTo>
                    <a:pt x="16022" y="1330775"/>
                  </a:lnTo>
                  <a:cubicBezTo>
                    <a:pt x="16022" y="1476047"/>
                    <a:pt x="91483" y="1593939"/>
                    <a:pt x="184729" y="1593939"/>
                  </a:cubicBezTo>
                  <a:lnTo>
                    <a:pt x="7890318" y="1593939"/>
                  </a:lnTo>
                  <a:cubicBezTo>
                    <a:pt x="7983565" y="1593939"/>
                    <a:pt x="8059026" y="1475794"/>
                    <a:pt x="8059026" y="1330775"/>
                  </a:cubicBezTo>
                  <a:lnTo>
                    <a:pt x="8059026" y="288516"/>
                  </a:lnTo>
                  <a:cubicBezTo>
                    <a:pt x="8059186" y="143498"/>
                    <a:pt x="7983724" y="25353"/>
                    <a:pt x="7890318" y="25353"/>
                  </a:cubicBezTo>
                  <a:lnTo>
                    <a:pt x="184729" y="25353"/>
                  </a:lnTo>
                  <a:lnTo>
                    <a:pt x="184729" y="12676"/>
                  </a:lnTo>
                  <a:lnTo>
                    <a:pt x="184729" y="25353"/>
                  </a:lnTo>
                  <a:cubicBezTo>
                    <a:pt x="91483" y="25353"/>
                    <a:pt x="16022" y="143498"/>
                    <a:pt x="16022" y="288516"/>
                  </a:cubicBezTo>
                  <a:close/>
                </a:path>
              </a:pathLst>
            </a:custGeom>
            <a:solidFill>
              <a:srgbClr val="609D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74264" y="7460904"/>
            <a:ext cx="4402188" cy="4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DAHILii6kZM</dc:identifier>
  <dcterms:modified xsi:type="dcterms:W3CDTF">2011-08-01T06:04:30Z</dcterms:modified>
  <cp:revision>1</cp:revision>
  <dc:title>Credit-Card-Weekly-Status-Dashboard (1).pptx</dc:title>
</cp:coreProperties>
</file>